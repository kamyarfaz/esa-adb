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875c63be854900" /><Relationship Type="http://schemas.openxmlformats.org/officeDocument/2006/relationships/extended-properties" Target="/docProps/app.xml" Id="R292d75960ccc4cb9" /><Relationship Type="http://schemas.openxmlformats.org/officeDocument/2006/relationships/officeDocument" Target="/ppt/presentation.xml" Id="R78f08c23be69464d" /></Relationships>
</file>

<file path=ppt/presentation.xml><?xml version="1.0" encoding="utf-8"?>
<p:presentation xmlns:p="http://schemas.openxmlformats.org/presentationml/2006/main">
  <p:sldMasterIdLst>
    <p:sldMasterId xmlns:r="http://schemas.openxmlformats.org/officeDocument/2006/relationships" id="2147483648" r:id="R270e2f35196c4fbe"/>
  </p:sldMasterIdLst>
  <p:notesMasterIdLst>
    <p:notesMasterId xmlns:r="http://schemas.openxmlformats.org/officeDocument/2006/relationships" r:id="Rfb6ea30194a14729"/>
  </p:notesMasterIdLst>
  <p:sldIdLst>
    <p:sldId xmlns:r="http://schemas.openxmlformats.org/officeDocument/2006/relationships" id="256" r:id="R0494538117434593"/>
    <p:sldId xmlns:r="http://schemas.openxmlformats.org/officeDocument/2006/relationships" id="257" r:id="R800d0aec255847bd"/>
    <p:sldId xmlns:r="http://schemas.openxmlformats.org/officeDocument/2006/relationships" id="258" r:id="Re22a88c744c74982"/>
    <p:sldId xmlns:r="http://schemas.openxmlformats.org/officeDocument/2006/relationships" id="259" r:id="R49d6b10d37ef4728"/>
    <p:sldId xmlns:r="http://schemas.openxmlformats.org/officeDocument/2006/relationships" id="260" r:id="R6ba0a60e1f064a5d"/>
    <p:sldId xmlns:r="http://schemas.openxmlformats.org/officeDocument/2006/relationships" id="261" r:id="Rf3a3a0f717e94391"/>
    <p:sldId xmlns:r="http://schemas.openxmlformats.org/officeDocument/2006/relationships" id="262" r:id="R25d67afaf8d34294"/>
    <p:sldId xmlns:r="http://schemas.openxmlformats.org/officeDocument/2006/relationships" id="263" r:id="R14fde08bc3bc4682"/>
    <p:sldId xmlns:r="http://schemas.openxmlformats.org/officeDocument/2006/relationships" id="264" r:id="Rd176837ffb174ae9"/>
    <p:sldId xmlns:r="http://schemas.openxmlformats.org/officeDocument/2006/relationships" id="265" r:id="R6db75bb581a14416"/>
    <p:sldId xmlns:r="http://schemas.openxmlformats.org/officeDocument/2006/relationships" id="266" r:id="R3971c9c013334bcc"/>
    <p:sldId xmlns:r="http://schemas.openxmlformats.org/officeDocument/2006/relationships" id="267" r:id="Rc88c334973b74f3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f35ed8b97245d8" /><Relationship Type="http://schemas.openxmlformats.org/officeDocument/2006/relationships/slideMaster" Target="/ppt/slideMasters/slideMaster1.xml" Id="R270e2f35196c4fbe" /><Relationship Type="http://schemas.openxmlformats.org/officeDocument/2006/relationships/notesMaster" Target="/ppt/notesMasters/notesMaster1.xml" Id="Rfb6ea30194a14729" /><Relationship Type="http://schemas.openxmlformats.org/officeDocument/2006/relationships/presProps" Target="/ppt/presProps.xml" Id="R3970d0e2d3964719" /><Relationship Type="http://schemas.openxmlformats.org/officeDocument/2006/relationships/tableStyles" Target="/ppt/tableStyles.xml" Id="R707022559ae545c6" /><Relationship Type="http://schemas.openxmlformats.org/officeDocument/2006/relationships/slide" Target="/ppt/slides/slide1.xml" Id="R0494538117434593" /><Relationship Type="http://schemas.openxmlformats.org/officeDocument/2006/relationships/slide" Target="/ppt/slides/slide2.xml" Id="R800d0aec255847bd" /><Relationship Type="http://schemas.openxmlformats.org/officeDocument/2006/relationships/slide" Target="/ppt/slides/slide3.xml" Id="Re22a88c744c74982" /><Relationship Type="http://schemas.openxmlformats.org/officeDocument/2006/relationships/slide" Target="/ppt/slides/slide4.xml" Id="R49d6b10d37ef4728" /><Relationship Type="http://schemas.openxmlformats.org/officeDocument/2006/relationships/slide" Target="/ppt/slides/slide5.xml" Id="R6ba0a60e1f064a5d" /><Relationship Type="http://schemas.openxmlformats.org/officeDocument/2006/relationships/slide" Target="/ppt/slides/slide6.xml" Id="Rf3a3a0f717e94391" /><Relationship Type="http://schemas.openxmlformats.org/officeDocument/2006/relationships/slide" Target="/ppt/slides/slide7.xml" Id="R25d67afaf8d34294" /><Relationship Type="http://schemas.openxmlformats.org/officeDocument/2006/relationships/slide" Target="/ppt/slides/slide8.xml" Id="R14fde08bc3bc4682" /><Relationship Type="http://schemas.openxmlformats.org/officeDocument/2006/relationships/slide" Target="/ppt/slides/slide9.xml" Id="Rd176837ffb174ae9" /><Relationship Type="http://schemas.openxmlformats.org/officeDocument/2006/relationships/slide" Target="/ppt/slides/slide10.xml" Id="R6db75bb581a14416" /><Relationship Type="http://schemas.openxmlformats.org/officeDocument/2006/relationships/slide" Target="/ppt/slides/slide11.xml" Id="R3971c9c013334bcc" /><Relationship Type="http://schemas.openxmlformats.org/officeDocument/2006/relationships/slide" Target="/ppt/slides/slide12.xml" Id="Rc88c334973b74f3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e02411db5949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5c38a508284cc4" /><Relationship Type="http://schemas.openxmlformats.org/officeDocument/2006/relationships/notesMaster" Target="/ppt/notesMasters/notesMaster1.xml" Id="Rb8c16c3757984c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675a2ae00b47e5" /><Relationship Type="http://schemas.openxmlformats.org/officeDocument/2006/relationships/notesMaster" Target="/ppt/notesMasters/notesMaster1.xml" Id="Re023fff4741744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cfd0ac6b854f5c" /><Relationship Type="http://schemas.openxmlformats.org/officeDocument/2006/relationships/notesMaster" Target="/ppt/notesMasters/notesMaster1.xml" Id="R82daa9ea5dc745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367881f2574b64" /><Relationship Type="http://schemas.openxmlformats.org/officeDocument/2006/relationships/notesMaster" Target="/ppt/notesMasters/notesMaster1.xml" Id="Rba98c77a438942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8b2c8587034867" /><Relationship Type="http://schemas.openxmlformats.org/officeDocument/2006/relationships/notesMaster" Target="/ppt/notesMasters/notesMaster1.xml" Id="Rf00173f6f0cc4a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06d6682a16476c" /><Relationship Type="http://schemas.openxmlformats.org/officeDocument/2006/relationships/notesMaster" Target="/ppt/notesMasters/notesMaster1.xml" Id="R7be390bfca5349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d2e26d19c7426e" /><Relationship Type="http://schemas.openxmlformats.org/officeDocument/2006/relationships/notesMaster" Target="/ppt/notesMasters/notesMaster1.xml" Id="Rd34645b4cf0747f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5dca40eda24093" /><Relationship Type="http://schemas.openxmlformats.org/officeDocument/2006/relationships/notesMaster" Target="/ppt/notesMasters/notesMaster1.xml" Id="Rde99d6bcbd3b47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ed95b7fe8d4df5" /><Relationship Type="http://schemas.openxmlformats.org/officeDocument/2006/relationships/notesMaster" Target="/ppt/notesMasters/notesMaster1.xml" Id="Rfb1cec22d1a949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c08914a26f49f0" /><Relationship Type="http://schemas.openxmlformats.org/officeDocument/2006/relationships/notesMaster" Target="/ppt/notesMasters/notesMaster1.xml" Id="Rb61d96430e4045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0319ee78544d16" /><Relationship Type="http://schemas.openxmlformats.org/officeDocument/2006/relationships/notesMaster" Target="/ppt/notesMasters/notesMaster1.xml" Id="Rd07c0152488443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1f6e5a6dbf48a8" /><Relationship Type="http://schemas.openxmlformats.org/officeDocument/2006/relationships/notesMaster" Target="/ppt/notesMasters/notesMaster1.xml" Id="Ra129b1b1a77f40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report extends the research status documented on 30 September 2026. It reports completed research through October 8, with current decisions as of October 13. The previous deck had only seed 42 for the short-no-roll comparison. New work completed seeds 43/44, diagnosed 2004, tested internal checkpoint selection, loss weight, channel isolation, score changes and direct telemetry, then audited calibration. The experiments retained channels 40–47 and the established full-period reference. No new training was needed to prepare this presentation.</a:t>
            </a:r>
          </a:p>
          <a:p xmlns:a="http://schemas.openxmlformats.org/drawingml/2006/main">
            <a:r>
              <a:t/>
            </a:r>
          </a:p>
          <a:p xmlns:a="http://schemas.openxmlformats.org/drawingml/2006/main">
            <a:r>
              <a:t>Sources (repository-relative):</a:t>
            </a:r>
          </a:p>
          <a:p xmlns:a="http://schemas.openxmlformats.org/drawingml/2006/main">
            <a:r>
              <a:t>AI_HANDOFF.md</a:t>
            </a:r>
          </a:p>
          <a:p xmlns:a="http://schemas.openxmlformats.org/drawingml/2006/main">
            <a:r>
              <a:t>docs/research/short-no-roll-multiseed-2026-10-02.md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retained reference, not a new improvement since September 30. System: TP54, FP7, FN37, F0.5 0.8057217336876309. Local: TP53, FP7, FN14, F0.5 0.862906630296026. System scope changes event annotations, not model inputs. Correct evaluator esa-ew-id-duration-v1 penalizes nominal false-alarm duration in precision. The AE and overlap aggregation are retrospective. Benchmark covariates/results have been inspected, so this is not untouched confirmation. Do not compare these scores directly with the later small internal folds.</a:t>
            </a:r>
          </a:p>
          <a:p xmlns:a="http://schemas.openxmlformats.org/drawingml/2006/main">
            <a:r>
              <a:t/>
            </a:r>
          </a:p>
          <a:p xmlns:a="http://schemas.openxmlformats.org/drawingml/2006/main">
            <a:r>
              <a:t>Sources (repository-relative):</a:t>
            </a:r>
          </a:p>
          <a:p xmlns:a="http://schemas.openxmlformats.org/drawingml/2006/main">
            <a:r>
              <a:t>docs/research/dual-scope-evaluation.md</a:t>
            </a:r>
          </a:p>
          <a:p xmlns:a="http://schemas.openxmlformats.org/drawingml/2006/main">
            <a:r>
              <a:t>docs/research/tables/dual-scope-2026-09-24/results.csv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Replication using seeds 43 and 44 was completed. Both arms: channels40–47, five epochs,25000 nominal windows,batch64; train on preceding years, calibrate Jan–Mar, assess identical real Apr–Dec data. Only the short-corruption branch changed: offsets/noise replace offsets/noise/rolls; legacy rolls remain. Exact means with/without:2003 .836292/.918525;2004 .241707/.458731;2005 .931322/.953285. Six paired increases,two decreases,one tie; one increase is only .000065. Means are not pooled event metrics. In2004 mean false events fell27→12 but mean detections fell5.67→4.67. Candidate seeds .526134/.666518/.183543. All18 saved masks and36 local/system metric rows were verified. No promotion or new full-period run.</a:t>
            </a:r>
          </a:p>
          <a:p xmlns:a="http://schemas.openxmlformats.org/drawingml/2006/main">
            <a:r>
              <a:t/>
            </a:r>
          </a:p>
          <a:p xmlns:a="http://schemas.openxmlformats.org/drawingml/2006/main">
            <a:r>
              <a:t>Sources (repository-relative):</a:t>
            </a:r>
          </a:p>
          <a:p xmlns:a="http://schemas.openxmlformats.org/drawingml/2006/main">
            <a:r>
              <a:t>docs/research/short-no-roll-multiseed-2026-10-02.md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Calibration Jan–Mar2004 contains one selected event ID,id_12. Candidate seeds42/43 have zero F0.5 at all epochs. At the selected epochs, detecting grid rules need at least1.9902%/4.9939% total alarm samples, exceeding the1% cap. Seed44 selects epoch3, F0.5 .093391, TP1/FP12. Its false alarms span several channels. At matched epoch5, normal training MSE improves in all three seeds. CPU replays had tiny threshold-boundary differences in two of six models; original results were retained. Diagnostic work used no assessment arrays. The finding is insufficient event/normal separation and sparse calibration, not proof that a different checkpoint is the cure.</a:t>
            </a:r>
          </a:p>
          <a:p xmlns:a="http://schemas.openxmlformats.org/drawingml/2006/main">
            <a:r>
              <a:t/>
            </a:r>
          </a:p>
          <a:p xmlns:a="http://schemas.openxmlformats.org/drawingml/2006/main">
            <a:r>
              <a:t>Sources (repository-relative):</a:t>
            </a:r>
          </a:p>
          <a:p xmlns:a="http://schemas.openxmlformats.org/drawingml/2006/main">
            <a:r>
              <a:t>docs/research/short-no-roll-2004-diagnosis-2026-10-02.md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separate internal developmental design, not the2003–2005 pilot or the2007–2013 full-period assessment. Channels40–47, training-only median/IQR scaler, ±10 clipping, window256/stride16, score stride32, batch64, short_no_roll augmentation. Candidate advancement required higher mean system F0.5 in BOTH folds and no increased mean false-event count in either. Primary policy is calibration-selected checkpoint; fixed epoch5 is secondary except in the explicit policy comparison. Each comparison uses identical real validation data and reports both scopes from the same predictions. These periods have informed development and are not pristine independent tests. The direct-telemetry reference is deterministic, one run per fold rather than three fictitious seeds.</a:t>
            </a:r>
          </a:p>
          <a:p xmlns:a="http://schemas.openxmlformats.org/drawingml/2006/main">
            <a:r>
              <a:t/>
            </a:r>
          </a:p>
          <a:p xmlns:a="http://schemas.openxmlformats.org/drawingml/2006/main">
            <a:r>
              <a:t>Sources (repository-relative):</a:t>
            </a:r>
          </a:p>
          <a:p xmlns:a="http://schemas.openxmlformats.org/drawingml/2006/main">
            <a:r>
              <a:t>docs/research/inner-selection-results-2026-10-02.md</a:t>
            </a:r>
          </a:p>
          <a:p xmlns:a="http://schemas.openxmlformats.org/drawingml/2006/main">
            <a:r>
              <a:t>docs/research/loss-weight-results-2026-10-03.md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results here refer to the internal folds on slide5. Fixed epoch5 and calibration-selected models have system and local F0.5=0 in both folds;2001 has no alarms.2002 mean nominal false-alarm duration falls44.73%→39.24% despite event count rising53→100. Loss-weight0.1 also stays zero in2001. In2002 its mean system F0.5 is .002600, despite mean recall44.44%, because false alarms are extensive; two seeds detect events with287/190 false events, one stays silent. Mean epoch5 normal MSE falls .744388→.087250 in2001 and .658175→.086263 in2002. Both candidates failed their predefined gate. Improved normal reconstruction is not equivalent to useful detection.</a:t>
            </a:r>
          </a:p>
          <a:p xmlns:a="http://schemas.openxmlformats.org/drawingml/2006/main">
            <a:r>
              <a:t/>
            </a:r>
          </a:p>
          <a:p xmlns:a="http://schemas.openxmlformats.org/drawingml/2006/main">
            <a:r>
              <a:t>Sources (repository-relative):</a:t>
            </a:r>
          </a:p>
          <a:p xmlns:a="http://schemas.openxmlformats.org/drawingml/2006/main">
            <a:r>
              <a:t>docs/research/inner-selection-results-2026-10-02.md</a:t>
            </a:r>
          </a:p>
          <a:p xmlns:a="http://schemas.openxmlformats.org/drawingml/2006/main">
            <a:r>
              <a:t>docs/research/loss-weight-results-2026-10-03.md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Intervention tested six frozen2002-fold models: weights1/.1 × seeds42/43/44, using training/calibration data only. Shifting ch47 changes other outputs while their input arrays remain identical. June2002 ch41–46 MSE improves for five models and worsens for weight1/seed42. Raising ch47 level by4 scaled units raises other-channel MSE for all six. This is model sensitivity, not spacecraft causality or an F0.5 improvement. Recentring can erase sustained anomalies and was not adopted. The subsequent ChannelIsolatedAE uses diagonal channel attention, same nominal1,333,392 parameters but different effective capacity; shared training updates remain coupled. It is not eight separately fitted models. All six isolated runs completed, failed the gate and were not promoted. Original primary mean2002 FP53 vs isolated128.667.</a:t>
            </a:r>
          </a:p>
          <a:p xmlns:a="http://schemas.openxmlformats.org/drawingml/2006/main">
            <a:r>
              <a:t/>
            </a:r>
          </a:p>
          <a:p xmlns:a="http://schemas.openxmlformats.org/drawingml/2006/main">
            <a:r>
              <a:t>Sources (repository-relative):</a:t>
            </a:r>
          </a:p>
          <a:p xmlns:a="http://schemas.openxmlformats.org/drawingml/2006/main">
            <a:r>
              <a:t>docs/research/channel-level-coupling-2026-10-03.md</a:t>
            </a:r>
          </a:p>
          <a:p xmlns:a="http://schemas.openxmlformats.org/drawingml/2006/main">
            <a:r>
              <a:t>docs/research/channel-isolation-results-2026-10-08.md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all seeds, detected calibration IDs are21/78 in2001 and83/84 in2002. Overlapping IDs are not necessarily independent patterns. Missed local validation IDs:37/38/80 in2001 and25/86 in2002. Joint peak/threshold ratios .0105–.1218 in2001 and .8326–.9632 in2002. In2002,49.1–67.5% of nominal timestamps have joint scores at least as high as a missed local event peak; isolated range11.7–68.4%. These are nominal sample fractions, not event counts or operational alarm rates. All five missed local IDs have zero clipping on annotated input channels using corrected v2 channel-specific intervals.13 prepared-input plots were saved. Score decreases during much of id86, motivating a two-sided score-change test. Neither score ranking nor the physical source of level changes is fully explained.</a:t>
            </a:r>
          </a:p>
          <a:p xmlns:a="http://schemas.openxmlformats.org/drawingml/2006/main">
            <a:r>
              <a:t/>
            </a:r>
          </a:p>
          <a:p xmlns:a="http://schemas.openxmlformats.org/drawingml/2006/main">
            <a:r>
              <a:t>Sources (repository-relative):</a:t>
            </a:r>
          </a:p>
          <a:p xmlns:a="http://schemas.openxmlformats.org/drawingml/2006/main">
            <a:r>
              <a:t>docs/research/inner-event-audit-2026-10-08.md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Score change: absolute difference between log(1+score) and its previous EWM, fixed one-day half-life. Six original frozen checkpoints, calibration rules frozen before validation; state carries over. Mean system F0.5 .238095 in2002 is entirely seed44 detecting id25 at .714286; seeds42/43 zero. Local mean .277778, seed44 .833333. Every seed misses id86 and all2001 events. Nominal false-alarm duration/count become zero. Fixed telemetry reference: per-channel absolute deviation from previous one-day EWM, normalized by nominal-training deviation q99, maximum over channels. One deterministic run per fold. Validation score maxima reach only39.59% and38.56% of thresholds. Both candidates failed. This does not prove every statistical detector fails. The score filter is history-only but the upstream AE is retrospective; no end-to-end operational causality claim.</a:t>
            </a:r>
          </a:p>
          <a:p xmlns:a="http://schemas.openxmlformats.org/drawingml/2006/main">
            <a:r>
              <a:t/>
            </a:r>
          </a:p>
          <a:p xmlns:a="http://schemas.openxmlformats.org/drawingml/2006/main">
            <a:r>
              <a:t>Sources (repository-relative):</a:t>
            </a:r>
          </a:p>
          <a:p xmlns:a="http://schemas.openxmlformats.org/drawingml/2006/main">
            <a:r>
              <a:t>docs/research/score-change-results-2026-10-08.md</a:t>
            </a:r>
          </a:p>
          <a:p xmlns:a="http://schemas.openxmlformats.org/drawingml/2006/main">
            <a:r>
              <a:t>docs/research/telemetry-reference-results-2026-10-08.md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selected-checkpoint grids:6 joint,6 isolated,6 score-change,2 direct-telemetry. All20 saved selections reproduced within1e-12. Removing the1% total-alarm cap improves best available calibration F0.5 in6/10 cases in2001 and0/10 in2002.19/20 grids have no higher-recall row within cap; the remaining case trades much lower precision for recall. These are finite-grid counterfactual diagnostics, not new rules or proof that every possible threshold fails. No checkpoint reselection, validation loading or outer reassessment was done. The cap covers true-event and nominal alarm samples, not only nominal false-alarm duration.</a:t>
            </a:r>
          </a:p>
          <a:p xmlns:a="http://schemas.openxmlformats.org/drawingml/2006/main">
            <a:r>
              <a:t/>
            </a:r>
          </a:p>
          <a:p xmlns:a="http://schemas.openxmlformats.org/drawingml/2006/main">
            <a:r>
              <a:t>Sources (repository-relative):</a:t>
            </a:r>
          </a:p>
          <a:p xmlns:a="http://schemas.openxmlformats.org/drawingml/2006/main">
            <a:r>
              <a:t>docs/research/calibration-selection-audit-2026-10-08.md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Achievements: full three-seed no-roll follow-up; diagnosis of sparse2004 calibration; completed internal selection,loss-weight and isolation campaigns; frozen-model sensitivity experiments;13 local-event input plots; score-change and direct-telemetry references;20-grid calibration audit. Saved masks, metric rows, manifests and source hashes were checked as documented in each report. The source machine passed98 thesis tests again onOctober12; this is not a claim that the new server passed tests. Preserve negative results and disclose development-data exposure. </a:t>
            </a:r>
          </a:p>
          <a:p xmlns:a="http://schemas.openxmlformats.org/drawingml/2006/main">
            <a:r>
              <a:t/>
            </a:r>
          </a:p>
          <a:p xmlns:a="http://schemas.openxmlformats.org/drawingml/2006/main">
            <a:r>
              <a:t>Sources (repository-relative):</a:t>
            </a:r>
          </a:p>
          <a:p xmlns:a="http://schemas.openxmlformats.org/drawingml/2006/main">
            <a:r>
              <a:t>AI_HANDOFF.md</a:t>
            </a:r>
          </a:p>
          <a:p xmlns:a="http://schemas.openxmlformats.org/drawingml/2006/main">
            <a:r>
              <a:t>docs/research/short-no-roll-multiseed-2026-10-02.md</a:t>
            </a:r>
          </a:p>
          <a:p xmlns:a="http://schemas.openxmlformats.org/drawingml/2006/main">
            <a:r>
              <a:t>docs/research/calibration-selection-audit-2026-10-08.md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comparisons indicate that several tested modifications do not reliably transfer across the evaluated periods. Further investigation should explicitly address sparse calibration events and variation in nominal operating conditions. The proposed evaluation protocol should specify the primary system-level metric and secondary local metric; calibration-event coverage; acceptable false-alarm burden and detection delay; and the treatment of previously inspected data. This proposal has not been implemented as a new experiment. The full-period reference and original experimental provenance are retained.</a:t>
            </a:r>
          </a:p>
          <a:p xmlns:a="http://schemas.openxmlformats.org/drawingml/2006/main">
            <a:r>
              <a:t/>
            </a:r>
          </a:p>
          <a:p xmlns:a="http://schemas.openxmlformats.org/drawingml/2006/main">
            <a:r>
              <a:t>Sources (repository-relative):</a:t>
            </a:r>
          </a:p>
          <a:p xmlns:a="http://schemas.openxmlformats.org/drawingml/2006/main">
            <a:r>
              <a:t>docs/research/calibration-selection-audit-2026-10-08.md</a:t>
            </a:r>
          </a:p>
          <a:p xmlns:a="http://schemas.openxmlformats.org/drawingml/2006/main">
            <a:r>
              <a:t>AI_HANDOFF.md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10f706e5d742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5e0fffd74248bf" /><Relationship Type="http://schemas.openxmlformats.org/officeDocument/2006/relationships/slideLayout" Target="/ppt/slideLayouts/slideLayout1.xml" Id="R5121b62a26894c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21b62a26894c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cfb5c94a13475f" /><Relationship Type="http://schemas.openxmlformats.org/officeDocument/2006/relationships/notesSlide" Target="/ppt/notesSlides/notesSlide1.xml" Id="R072c8204b0f147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32dde2623d4332" /><Relationship Type="http://schemas.openxmlformats.org/officeDocument/2006/relationships/notesSlide" Target="/ppt/notesSlides/notesSlide2.xml" Id="R3d08e3821f7b40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6424c6a3f44c25" /><Relationship Type="http://schemas.openxmlformats.org/officeDocument/2006/relationships/notesSlide" Target="/ppt/notesSlides/notesSlide3.xml" Id="R1c17d14d71984f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8aba43fd5ae4b9b" /><Relationship Type="http://schemas.openxmlformats.org/officeDocument/2006/relationships/notesSlide" Target="/ppt/notesSlides/notesSlide4.xml" Id="R1b679324c33c43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0de54012484eb1" /><Relationship Type="http://schemas.openxmlformats.org/officeDocument/2006/relationships/notesSlide" Target="/ppt/notesSlides/notesSlide5.xml" Id="Re1c62ab63d8542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c10f9795ea4ea5" /><Relationship Type="http://schemas.openxmlformats.org/officeDocument/2006/relationships/notesSlide" Target="/ppt/notesSlides/notesSlide6.xml" Id="Rd02d975a5ab44c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5510120357437a" /><Relationship Type="http://schemas.openxmlformats.org/officeDocument/2006/relationships/notesSlide" Target="/ppt/notesSlides/notesSlide7.xml" Id="R2b40fe1ff3e04c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8eb54e385b643de" /><Relationship Type="http://schemas.openxmlformats.org/officeDocument/2006/relationships/notesSlide" Target="/ppt/notesSlides/notesSlide8.xml" Id="Rbffb3752eb7a43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9fdd8b346740d2" /><Relationship Type="http://schemas.openxmlformats.org/officeDocument/2006/relationships/notesSlide" Target="/ppt/notesSlides/notesSlide9.xml" Id="Rf0942e87b93f46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3525554b5c4c17" /><Relationship Type="http://schemas.openxmlformats.org/officeDocument/2006/relationships/notesSlide" Target="/ppt/notesSlides/notesSlide10.xml" Id="Rc93a7fc2a8a14a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04af0b7357e44ce" /><Relationship Type="http://schemas.openxmlformats.org/officeDocument/2006/relationships/notesSlide" Target="/ppt/notesSlides/notesSlide11.xml" Id="R8cc7e67ca4b847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7818a6323d49bd" /><Relationship Type="http://schemas.openxmlformats.org/officeDocument/2006/relationships/notesSlide" Target="/ppt/notesSlides/notesSlide12.xml" Id="Re89683109ed94b8f"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9A7403-B7BD-47C5-B941-5A5CA39DB44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Satellite anomaly detection</a:t>
            </a:r>
          </a:p>
        </p:txBody>
      </p:sp>
      <p:sp>
        <p:nvSpPr>
          <p:cNvPr id="2" name="">
            <a:extLst xmlns:a="http://schemas.openxmlformats.org/drawingml/2006/main">
              <a:ext uri="{FF2B5EF4-FFF2-40B4-BE49-F238E27FC236}">
                <a16:creationId xmlns:a16="http://schemas.microsoft.com/office/drawing/2014/main" id="{BCA950B2-79DF-45FD-90A5-F706A99589E5}"/>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Research progress: 30 September–13 October 2026</a:t>
            </a:r>
          </a:p>
        </p:txBody>
      </p:sp>
      <p:sp>
        <p:nvSpPr>
          <p:cNvPr id="3" name="">
            <a:extLst xmlns:a="http://schemas.openxmlformats.org/drawingml/2006/main">
              <a:ext uri="{FF2B5EF4-FFF2-40B4-BE49-F238E27FC236}">
                <a16:creationId xmlns:a16="http://schemas.microsoft.com/office/drawing/2014/main" id="{FDFDE92F-6319-45CF-82D0-E923C90C15DB}"/>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1</a:t>
            </a:r>
          </a:p>
        </p:txBody>
      </p:sp>
      <p:sp>
        <p:nvSpPr>
          <p:cNvPr id="4" name="">
            <a:extLst xmlns:a="http://schemas.openxmlformats.org/drawingml/2006/main">
              <a:ext uri="{FF2B5EF4-FFF2-40B4-BE49-F238E27FC236}">
                <a16:creationId xmlns:a16="http://schemas.microsoft.com/office/drawing/2014/main" id="{FC6A25B6-708A-4C13-81F9-EDF8A25B8EF3}"/>
              </a:ext>
            </a:extLst>
          </p:cNvPr>
          <p:cNvSpPr>
            <a:spLocks xmlns:a="http://schemas.openxmlformats.org/drawingml/2006/main" noGrp="1"/>
          </p:cNvSpPr>
          <p:nvPr/>
        </p:nvSpPr>
        <p:spPr>
          <a:xfrm xmlns:a="http://schemas.openxmlformats.org/drawingml/2006/main">
            <a:off x="609600" y="19431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Previous experimental status</a:t>
            </a:r>
          </a:p>
        </p:txBody>
      </p:sp>
      <p:sp>
        <p:nvSpPr>
          <p:cNvPr id="5" name="">
            <a:extLst xmlns:a="http://schemas.openxmlformats.org/drawingml/2006/main">
              <a:ext uri="{FF2B5EF4-FFF2-40B4-BE49-F238E27FC236}">
                <a16:creationId xmlns:a16="http://schemas.microsoft.com/office/drawing/2014/main" id="{BAD48BBD-49C6-4E2C-A70B-37FDF1A27EBC}"/>
              </a:ext>
            </a:extLst>
          </p:cNvPr>
          <p:cNvSpPr>
            <a:spLocks xmlns:a="http://schemas.openxmlformats.org/drawingml/2006/main" noGrp="1"/>
          </p:cNvSpPr>
          <p:nvPr/>
        </p:nvSpPr>
        <p:spPr>
          <a:xfrm xmlns:a="http://schemas.openxmlformats.org/drawingml/2006/main">
            <a:off x="609600" y="247650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a:solidFill>
                  <a:srgbClr val="132B3A"/>
                </a:solidFill>
                <a:latin typeface="Abyssinica SIL"/>
                <a:ea typeface="Abyssinica SIL"/>
                <a:cs typeface="Abyssinica SIL"/>
              </a:defRPr>
            </a:defPPr>
          </a:lstStyle>
          <a:p xmlns:a="http://schemas.openxmlformats.org/drawingml/2006/main">
            <a:pPr algn="l">
              <a:buNone/>
              <a:defRPr sz="2400" b="0">
                <a:solidFill>
                  <a:srgbClr val="132B3A"/>
                </a:solidFill>
                <a:latin typeface="Abyssinica SIL"/>
                <a:ea typeface="Abyssinica SIL"/>
                <a:cs typeface="Abyssinica SIL"/>
              </a:defRPr>
            </a:pPr>
            <a:r>
              <a:rPr sz="2400" b="0">
                <a:solidFill>
                  <a:srgbClr val="132B3A"/>
                </a:solidFill>
                <a:latin typeface="Abyssinica SIL"/>
                <a:ea typeface="Abyssinica SIL"/>
                <a:cs typeface="Abyssinica SIL"/>
              </a:rPr>
              <a:t>The initial single-seed comparison suggested a benefit from removing short temporal rolls. Replication was required.</a:t>
            </a:r>
          </a:p>
        </p:txBody>
      </p:sp>
      <p:sp>
        <p:nvSpPr>
          <p:cNvPr id="6" name="">
            <a:extLst xmlns:a="http://schemas.openxmlformats.org/drawingml/2006/main">
              <a:ext uri="{FF2B5EF4-FFF2-40B4-BE49-F238E27FC236}">
                <a16:creationId xmlns:a16="http://schemas.microsoft.com/office/drawing/2014/main" id="{2A2F2D6E-A1FE-4948-BB36-92120ECD8972}"/>
              </a:ext>
            </a:extLst>
          </p:cNvPr>
          <p:cNvSpPr>
            <a:spLocks xmlns:a="http://schemas.openxmlformats.org/drawingml/2006/main" noGrp="1"/>
          </p:cNvSpPr>
          <p:nvPr/>
        </p:nvSpPr>
        <p:spPr>
          <a:xfrm xmlns:a="http://schemas.openxmlformats.org/drawingml/2006/main">
            <a:off x="609600" y="37433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Completed investigations</a:t>
            </a:r>
          </a:p>
        </p:txBody>
      </p:sp>
      <p:sp>
        <p:nvSpPr>
          <p:cNvPr id="7" name="">
            <a:extLst xmlns:a="http://schemas.openxmlformats.org/drawingml/2006/main">
              <a:ext uri="{FF2B5EF4-FFF2-40B4-BE49-F238E27FC236}">
                <a16:creationId xmlns:a16="http://schemas.microsoft.com/office/drawing/2014/main" id="{970DA417-5635-4738-B2E9-2D949ACE1AE2}"/>
              </a:ext>
            </a:extLst>
          </p:cNvPr>
          <p:cNvSpPr>
            <a:spLocks xmlns:a="http://schemas.openxmlformats.org/drawingml/2006/main" noGrp="1"/>
          </p:cNvSpPr>
          <p:nvPr/>
        </p:nvSpPr>
        <p:spPr>
          <a:xfrm xmlns:a="http://schemas.openxmlformats.org/drawingml/2006/main">
            <a:off x="609600" y="429577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a:solidFill>
                  <a:srgbClr val="132B3A"/>
                </a:solidFill>
                <a:latin typeface="Abyssinica SIL"/>
                <a:ea typeface="Abyssinica SIL"/>
                <a:cs typeface="Abyssinica SIL"/>
              </a:defRPr>
            </a:defPPr>
          </a:lstStyle>
          <a:p xmlns:a="http://schemas.openxmlformats.org/drawingml/2006/main">
            <a:pPr algn="l">
              <a:buNone/>
              <a:defRPr sz="2325" b="0">
                <a:solidFill>
                  <a:srgbClr val="132B3A"/>
                </a:solidFill>
                <a:latin typeface="Abyssinica SIL"/>
                <a:ea typeface="Abyssinica SIL"/>
                <a:cs typeface="Abyssinica SIL"/>
              </a:defRPr>
            </a:pPr>
            <a:r>
              <a:rPr sz="2325" b="0">
                <a:solidFill>
                  <a:srgbClr val="132B3A"/>
                </a:solidFill>
                <a:latin typeface="Abyssinica SIL"/>
                <a:ea typeface="Abyssinica SIL"/>
                <a:cs typeface="Abyssinica SIL"/>
              </a:rPr>
              <a:t>Repeated experiments, controlled model comparisons and event diagnostics. No reliable baseline replacement emerged.</a:t>
            </a:r>
          </a:p>
        </p:txBody>
      </p:sp>
      <p:sp>
        <p:nvSpPr>
          <p:cNvPr id="8" name="">
            <a:extLst xmlns:a="http://schemas.openxmlformats.org/drawingml/2006/main">
              <a:ext uri="{FF2B5EF4-FFF2-40B4-BE49-F238E27FC236}">
                <a16:creationId xmlns:a16="http://schemas.microsoft.com/office/drawing/2014/main" id="{8D9731C9-C64D-4F8E-8E6D-185DF11468CB}"/>
              </a:ext>
            </a:extLst>
          </p:cNvPr>
          <p:cNvSpPr>
            <a:spLocks xmlns:a="http://schemas.openxmlformats.org/drawingml/2006/main" noGrp="1"/>
          </p:cNvSpPr>
          <p:nvPr/>
        </p:nvSpPr>
        <p:spPr>
          <a:xfrm xmlns:a="http://schemas.openxmlformats.org/drawingml/2006/main">
            <a:off x="609600" y="58769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Completed research through 8 October 2026  /  Kamyar Faz</a:t>
            </a:r>
          </a:p>
        </p:txBody>
      </p:sp>
    </p:spTree>
    <p:extLst>
      <p:ext uri="{BB962C8B-B14F-4D97-AF65-F5344CB8AC3E}">
        <p14:creationId xmlns:p14="http://schemas.microsoft.com/office/powerpoint/2010/main" val="50563972"/>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83A04D-8F01-4A80-BD01-CED6245D7849}"/>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The full-period reference is unchanged</a:t>
            </a:r>
          </a:p>
        </p:txBody>
      </p:sp>
      <p:sp>
        <p:nvSpPr>
          <p:cNvPr id="2" name="">
            <a:extLst xmlns:a="http://schemas.openxmlformats.org/drawingml/2006/main">
              <a:ext uri="{FF2B5EF4-FFF2-40B4-BE49-F238E27FC236}">
                <a16:creationId xmlns:a16="http://schemas.microsoft.com/office/drawing/2014/main" id="{A302C519-829C-457B-B43E-51D90453B6D7}"/>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One Transformer autoencoder, eight input channels: 40–47</a:t>
            </a:r>
          </a:p>
        </p:txBody>
      </p:sp>
      <p:sp>
        <p:nvSpPr>
          <p:cNvPr id="3" name="">
            <a:extLst xmlns:a="http://schemas.openxmlformats.org/drawingml/2006/main">
              <a:ext uri="{FF2B5EF4-FFF2-40B4-BE49-F238E27FC236}">
                <a16:creationId xmlns:a16="http://schemas.microsoft.com/office/drawing/2014/main" id="{47C41DFD-AB9B-4C5D-A794-7CCFA3344306}"/>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2</a:t>
            </a:r>
          </a:p>
        </p:txBody>
      </p:sp>
      <p:graphicFrame>
        <p:nvGraphicFramePr>
          <p:cNvPr id="11" name="">
            <a:extLst xmlns:a="http://schemas.openxmlformats.org/drawingml/2006/main">
              <a:ext uri="{FF2B5EF4-FFF2-40B4-BE49-F238E27FC236}">
                <a16:creationId xmlns:a16="http://schemas.microsoft.com/office/drawing/2014/main" id="{593BAB3F-0C1C-497E-9F00-1D86A706E55A}"/>
              </a:ext>
            </a:extLst>
          </p:cNvPr>
          <p:cNvGraphicFramePr/>
          <p:nvPr/>
        </p:nvGraphicFramePr>
        <p:xfrm>
          <a:off xmlns:a="http://schemas.openxmlformats.org/drawingml/2006/main" x="609600" y="1981200"/>
          <a:ext xmlns:a="http://schemas.openxmlformats.org/drawingml/2006/main" cx="10972800" cy="2190750"/>
        </p:xfrm>
        <a:graphic xmlns:a="http://schemas.openxmlformats.org/drawingml/2006/main">
          <a:graphicData uri="http://schemas.openxmlformats.org/drawingml/2006/table">
            <a:tbl>
              <a:tblPr/>
              <a:tblGrid>
                <a:gridCol w="5095875"/>
                <a:gridCol w="1952625"/>
                <a:gridCol w="1952625"/>
                <a:gridCol w="1971675"/>
              </a:tblGrid>
              <a:tr h="730250">
                <a:tc>
                  <a:txBody>
                    <a:bodyPr/>
                    <a:lstStyle/>
                    <a:p>
                      <a:r>
                        <a:rPr sz="1875" b="1">
                          <a:solidFill>
                            <a:srgbClr val="FFFFFF"/>
                          </a:solidFill>
                          <a:latin typeface="Abyssinica SIL"/>
                          <a:ea typeface="Abyssinica SIL"/>
                          <a:cs typeface="Abyssinica SIL"/>
                        </a:rPr>
                        <a:t>Event scope</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Event IDs</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Detected</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F₀.₅</a:t>
                      </a:r>
                    </a:p>
                  </a:txBody>
                  <a:tcPr marL="91440" marR="91440" marT="45720" marB="45720">
                    <a:solidFill>
                      <a:srgbClr val="132B3A"/>
                    </a:solidFill>
                  </a:tcPr>
                </a:tc>
              </a:tr>
              <a:tr h="730250">
                <a:tc>
                  <a:txBody>
                    <a:bodyPr/>
                    <a:lstStyle/>
                    <a:p>
                      <a:r>
                        <a:rPr sz="1875" b="0">
                          <a:solidFill>
                            <a:srgbClr val="132B3A"/>
                          </a:solidFill>
                          <a:latin typeface="Abyssinica SIL"/>
                          <a:ea typeface="Abyssinica SIL"/>
                          <a:cs typeface="Abyssinica SIL"/>
                        </a:rPr>
                        <a:t>Channels 40–47</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67</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53</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0.8629</a:t>
                      </a:r>
                    </a:p>
                  </a:txBody>
                  <a:tcPr marL="91440" marR="91440" marT="45720" marB="45720">
                    <a:solidFill>
                      <a:srgbClr val="FFFFFF"/>
                    </a:solidFill>
                  </a:tcPr>
                </a:tc>
              </a:tr>
              <a:tr h="730250">
                <a:tc>
                  <a:txBody>
                    <a:bodyPr/>
                    <a:lstStyle/>
                    <a:p>
                      <a:r>
                        <a:rPr sz="1875" b="0">
                          <a:solidFill>
                            <a:srgbClr val="132B3A"/>
                          </a:solidFill>
                          <a:latin typeface="Abyssinica SIL"/>
                          <a:ea typeface="Abyssinica SIL"/>
                          <a:cs typeface="Abyssinica SIL"/>
                        </a:rPr>
                        <a:t>All-system events</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91</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54</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0.8057</a:t>
                      </a:r>
                    </a:p>
                  </a:txBody>
                  <a:tcPr marL="91440" marR="91440" marT="45720" marB="45720">
                    <a:solidFill>
                      <a:srgbClr val="EDF3F5"/>
                    </a:solidFill>
                  </a:tcPr>
                </a:tc>
              </a:tr>
            </a:tbl>
          </a:graphicData>
        </a:graphic>
      </p:graphicFrame>
      <p:sp>
        <p:nvSpPr>
          <p:cNvPr id="5" name="">
            <a:extLst xmlns:a="http://schemas.openxmlformats.org/drawingml/2006/main">
              <a:ext uri="{FF2B5EF4-FFF2-40B4-BE49-F238E27FC236}">
                <a16:creationId xmlns:a16="http://schemas.microsoft.com/office/drawing/2014/main" id="{E1B131F5-08A0-46E6-B072-51E7811C120A}"/>
              </a:ext>
            </a:extLst>
          </p:cNvPr>
          <p:cNvSpPr>
            <a:spLocks xmlns:a="http://schemas.openxmlformats.org/drawingml/2006/main" noGrp="1"/>
          </p:cNvSpPr>
          <p:nvPr/>
        </p:nvSpPr>
        <p:spPr>
          <a:xfrm xmlns:a="http://schemas.openxmlformats.org/drawingml/2006/main">
            <a:off x="609600" y="45148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Assessment: all months of 2007–2013</a:t>
            </a:r>
          </a:p>
        </p:txBody>
      </p:sp>
      <p:sp>
        <p:nvSpPr>
          <p:cNvPr id="6" name="">
            <a:extLst xmlns:a="http://schemas.openxmlformats.org/drawingml/2006/main">
              <a:ext uri="{FF2B5EF4-FFF2-40B4-BE49-F238E27FC236}">
                <a16:creationId xmlns:a16="http://schemas.microsoft.com/office/drawing/2014/main" id="{99491C29-2D64-4B7A-8D1A-A0BBD4CF2CD1}"/>
              </a:ext>
            </a:extLst>
          </p:cNvPr>
          <p:cNvSpPr>
            <a:spLocks xmlns:a="http://schemas.openxmlformats.org/drawingml/2006/main" noGrp="1"/>
          </p:cNvSpPr>
          <p:nvPr/>
        </p:nvSpPr>
        <p:spPr>
          <a:xfrm xmlns:a="http://schemas.openxmlformats.org/drawingml/2006/main">
            <a:off x="609600" y="50673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950">
                <a:solidFill>
                  <a:srgbClr val="132B3A"/>
                </a:solidFill>
                <a:latin typeface="Abyssinica SIL"/>
                <a:ea typeface="Abyssinica SIL"/>
                <a:cs typeface="Abyssinica SIL"/>
              </a:defRPr>
            </a:defPPr>
          </a:lstStyle>
          <a:p xmlns:a="http://schemas.openxmlformats.org/drawingml/2006/main">
            <a:pPr algn="l">
              <a:buNone/>
              <a:defRPr sz="1950" b="0">
                <a:solidFill>
                  <a:srgbClr val="132B3A"/>
                </a:solidFill>
                <a:latin typeface="Abyssinica SIL"/>
                <a:ea typeface="Abyssinica SIL"/>
                <a:cs typeface="Abyssinica SIL"/>
              </a:defRPr>
            </a:pPr>
            <a:r>
              <a:rPr sz="1950" b="0">
                <a:solidFill>
                  <a:srgbClr val="132B3A"/>
                </a:solidFill>
                <a:latin typeface="Abyssinica SIL"/>
                <a:ea typeface="Abyssinica SIL"/>
                <a:cs typeface="Abyssinica SIL"/>
              </a:rPr>
              <a:t>Training: 2000–2005. Calibration: 2006. The same frozen predictions serve both event scopes.</a:t>
            </a:r>
          </a:p>
        </p:txBody>
      </p:sp>
      <p:sp>
        <p:nvSpPr>
          <p:cNvPr id="7" name="">
            <a:extLst xmlns:a="http://schemas.openxmlformats.org/drawingml/2006/main">
              <a:ext uri="{FF2B5EF4-FFF2-40B4-BE49-F238E27FC236}">
                <a16:creationId xmlns:a16="http://schemas.microsoft.com/office/drawing/2014/main" id="{CC2FEB1B-1300-42F6-9777-81B51D59FBB7}"/>
              </a:ext>
            </a:extLst>
          </p:cNvPr>
          <p:cNvSpPr>
            <a:spLocks xmlns:a="http://schemas.openxmlformats.org/drawingml/2006/main" noGrp="1"/>
          </p:cNvSpPr>
          <p:nvPr/>
        </p:nvSpPr>
        <p:spPr>
          <a:xfrm xmlns:a="http://schemas.openxmlformats.org/drawingml/2006/main">
            <a:off x="609600" y="590550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The system target of F₀.₅ ≥ 0.85 has not been robustly achieved.</a:t>
            </a:r>
          </a:p>
        </p:txBody>
      </p:sp>
    </p:spTree>
    <p:extLst>
      <p:ext uri="{BB962C8B-B14F-4D97-AF65-F5344CB8AC3E}">
        <p14:creationId xmlns:p14="http://schemas.microsoft.com/office/powerpoint/2010/main" val="1310214164"/>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106E22-F857-410B-BDDE-605306ADCB9C}"/>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Removing short rolls: three seeds completed</a:t>
            </a:r>
          </a:p>
        </p:txBody>
      </p:sp>
      <p:sp>
        <p:nvSpPr>
          <p:cNvPr id="2" name="">
            <a:extLst xmlns:a="http://schemas.openxmlformats.org/drawingml/2006/main">
              <a:ext uri="{FF2B5EF4-FFF2-40B4-BE49-F238E27FC236}">
                <a16:creationId xmlns:a16="http://schemas.microsoft.com/office/drawing/2014/main" id="{1285B074-C823-4299-ADEA-5CB35A9954A1}"/>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System F₀.₅ means across seeds 42, 43 and 44  /  real April–December assessment</a:t>
            </a:r>
          </a:p>
        </p:txBody>
      </p:sp>
      <p:sp>
        <p:nvSpPr>
          <p:cNvPr id="3" name="">
            <a:extLst xmlns:a="http://schemas.openxmlformats.org/drawingml/2006/main">
              <a:ext uri="{FF2B5EF4-FFF2-40B4-BE49-F238E27FC236}">
                <a16:creationId xmlns:a16="http://schemas.microsoft.com/office/drawing/2014/main" id="{1878A327-43BF-4DF6-9D81-EBE5FAEC319A}"/>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3</a:t>
            </a:r>
          </a:p>
        </p:txBody>
      </p:sp>
      <p:graphicFrame>
        <p:nvGraphicFramePr>
          <p:cNvPr id="10" name="">
            <a:extLst xmlns:a="http://schemas.openxmlformats.org/drawingml/2006/main">
              <a:ext uri="{FF2B5EF4-FFF2-40B4-BE49-F238E27FC236}">
                <a16:creationId xmlns:a16="http://schemas.microsoft.com/office/drawing/2014/main" id="{A5406120-62D7-45B0-A86B-9421617524C3}"/>
              </a:ext>
            </a:extLst>
          </p:cNvPr>
          <p:cNvGraphicFramePr/>
          <p:nvPr/>
        </p:nvGraphicFramePr>
        <p:xfrm>
          <a:off xmlns:a="http://schemas.openxmlformats.org/drawingml/2006/main" x="609600" y="1885950"/>
          <a:ext xmlns:a="http://schemas.openxmlformats.org/drawingml/2006/main" cx="10972800" cy="2571750"/>
        </p:xfrm>
        <a:graphic xmlns:a="http://schemas.openxmlformats.org/drawingml/2006/main">
          <a:graphicData uri="http://schemas.openxmlformats.org/drawingml/2006/table">
            <a:tbl>
              <a:tblPr/>
              <a:tblGrid>
                <a:gridCol w="3810000"/>
                <a:gridCol w="3581400"/>
                <a:gridCol w="3581400"/>
              </a:tblGrid>
              <a:tr h="642938">
                <a:tc>
                  <a:txBody>
                    <a:bodyPr/>
                    <a:lstStyle/>
                    <a:p>
                      <a:r>
                        <a:rPr sz="1875" b="1">
                          <a:solidFill>
                            <a:srgbClr val="FFFFFF"/>
                          </a:solidFill>
                          <a:latin typeface="Abyssinica SIL"/>
                          <a:ea typeface="Abyssinica SIL"/>
                          <a:cs typeface="Abyssinica SIL"/>
                        </a:rPr>
                        <a:t>Assessment year</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With short rolls</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Without short rolls</a:t>
                      </a:r>
                    </a:p>
                  </a:txBody>
                  <a:tcPr marL="91440" marR="91440" marT="45720" marB="45720">
                    <a:solidFill>
                      <a:srgbClr val="132B3A"/>
                    </a:solidFill>
                  </a:tcPr>
                </a:tc>
              </a:tr>
              <a:tr h="642938">
                <a:tc>
                  <a:txBody>
                    <a:bodyPr/>
                    <a:lstStyle/>
                    <a:p>
                      <a:r>
                        <a:rPr sz="1875" b="0">
                          <a:solidFill>
                            <a:srgbClr val="132B3A"/>
                          </a:solidFill>
                          <a:latin typeface="Abyssinica SIL"/>
                          <a:ea typeface="Abyssinica SIL"/>
                          <a:cs typeface="Abyssinica SIL"/>
                        </a:rPr>
                        <a:t>2003</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0.8363</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0.9185</a:t>
                      </a:r>
                    </a:p>
                  </a:txBody>
                  <a:tcPr marL="91440" marR="91440" marT="45720" marB="45720">
                    <a:solidFill>
                      <a:srgbClr val="FFFFFF"/>
                    </a:solidFill>
                  </a:tcPr>
                </a:tc>
              </a:tr>
              <a:tr h="642938">
                <a:tc>
                  <a:txBody>
                    <a:bodyPr/>
                    <a:lstStyle/>
                    <a:p>
                      <a:r>
                        <a:rPr sz="1875" b="0">
                          <a:solidFill>
                            <a:srgbClr val="132B3A"/>
                          </a:solidFill>
                          <a:latin typeface="Abyssinica SIL"/>
                          <a:ea typeface="Abyssinica SIL"/>
                          <a:cs typeface="Abyssinica SIL"/>
                        </a:rPr>
                        <a:t>2004</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0.2417</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0.4587</a:t>
                      </a:r>
                    </a:p>
                  </a:txBody>
                  <a:tcPr marL="91440" marR="91440" marT="45720" marB="45720">
                    <a:solidFill>
                      <a:srgbClr val="EDF3F5"/>
                    </a:solidFill>
                  </a:tcPr>
                </a:tc>
              </a:tr>
              <a:tr h="642938">
                <a:tc>
                  <a:txBody>
                    <a:bodyPr/>
                    <a:lstStyle/>
                    <a:p>
                      <a:r>
                        <a:rPr sz="1875" b="0">
                          <a:solidFill>
                            <a:srgbClr val="132B3A"/>
                          </a:solidFill>
                          <a:latin typeface="Abyssinica SIL"/>
                          <a:ea typeface="Abyssinica SIL"/>
                          <a:cs typeface="Abyssinica SIL"/>
                        </a:rPr>
                        <a:t>2005</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0.9313</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0.9533</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DC2928F-A768-40A9-B3A8-8B56B72BF1DE}"/>
              </a:ext>
            </a:extLst>
          </p:cNvPr>
          <p:cNvSpPr>
            <a:spLocks xmlns:a="http://schemas.openxmlformats.org/drawingml/2006/main" noGrp="1"/>
          </p:cNvSpPr>
          <p:nvPr/>
        </p:nvSpPr>
        <p:spPr>
          <a:xfrm xmlns:a="http://schemas.openxmlformats.org/drawingml/2006/main">
            <a:off x="609600" y="48387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75">
                <a:solidFill>
                  <a:srgbClr val="132B3A"/>
                </a:solidFill>
                <a:latin typeface="Abyssinica SIL"/>
                <a:ea typeface="Abyssinica SIL"/>
                <a:cs typeface="Abyssinica SIL"/>
              </a:defRPr>
            </a:defPPr>
          </a:lstStyle>
          <a:p xmlns:a="http://schemas.openxmlformats.org/drawingml/2006/main">
            <a:pPr algn="l">
              <a:buNone/>
              <a:defRPr sz="2175" b="0">
                <a:solidFill>
                  <a:srgbClr val="132B3A"/>
                </a:solidFill>
                <a:latin typeface="Abyssinica SIL"/>
                <a:ea typeface="Abyssinica SIL"/>
                <a:cs typeface="Abyssinica SIL"/>
              </a:defRPr>
            </a:pPr>
            <a:r>
              <a:rPr sz="2175" b="0">
                <a:solidFill>
                  <a:srgbClr val="132B3A"/>
                </a:solidFill>
                <a:latin typeface="Abyssinica SIL"/>
                <a:ea typeface="Abyssinica SIL"/>
                <a:cs typeface="Abyssinica SIL"/>
              </a:rPr>
              <a:t>The mean improved in all three years, but 2004 remained unstable: F₀.₅ ranged from 0.1835 to 0.6665.</a:t>
            </a:r>
          </a:p>
        </p:txBody>
      </p:sp>
      <p:sp>
        <p:nvSpPr>
          <p:cNvPr id="6" name="">
            <a:extLst xmlns:a="http://schemas.openxmlformats.org/drawingml/2006/main">
              <a:ext uri="{FF2B5EF4-FFF2-40B4-BE49-F238E27FC236}">
                <a16:creationId xmlns:a16="http://schemas.microsoft.com/office/drawing/2014/main" id="{08215A90-D182-4699-8DE6-80CEE70BF989}"/>
              </a:ext>
            </a:extLst>
          </p:cNvPr>
          <p:cNvSpPr>
            <a:spLocks xmlns:a="http://schemas.openxmlformats.org/drawingml/2006/main" noGrp="1"/>
          </p:cNvSpPr>
          <p:nvPr/>
        </p:nvSpPr>
        <p:spPr>
          <a:xfrm xmlns:a="http://schemas.openxmlformats.org/drawingml/2006/main">
            <a:off x="609600" y="575310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Matched five-epoch pilots. These are development results, not full-period scores.</a:t>
            </a:r>
          </a:p>
        </p:txBody>
      </p:sp>
    </p:spTree>
    <p:extLst>
      <p:ext uri="{BB962C8B-B14F-4D97-AF65-F5344CB8AC3E}">
        <p14:creationId xmlns:p14="http://schemas.microsoft.com/office/powerpoint/2010/main" val="1760628751"/>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9A7403-B7BD-47C5-B941-5A5CA39DB44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Why the 2004 result remained unstable</a:t>
            </a:r>
          </a:p>
        </p:txBody>
      </p:sp>
      <p:sp>
        <p:nvSpPr>
          <p:cNvPr id="2" name="">
            <a:extLst xmlns:a="http://schemas.openxmlformats.org/drawingml/2006/main">
              <a:ext uri="{FF2B5EF4-FFF2-40B4-BE49-F238E27FC236}">
                <a16:creationId xmlns:a16="http://schemas.microsoft.com/office/drawing/2014/main" id="{BCA950B2-79DF-45FD-90A5-F706A99589E5}"/>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Diagnostics used the existing training and calibration observations</a:t>
            </a:r>
          </a:p>
        </p:txBody>
      </p:sp>
      <p:sp>
        <p:nvSpPr>
          <p:cNvPr id="3" name="">
            <a:extLst xmlns:a="http://schemas.openxmlformats.org/drawingml/2006/main">
              <a:ext uri="{FF2B5EF4-FFF2-40B4-BE49-F238E27FC236}">
                <a16:creationId xmlns:a16="http://schemas.microsoft.com/office/drawing/2014/main" id="{FDFDE92F-6319-45CF-82D0-E923C90C15DB}"/>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4</a:t>
            </a:r>
          </a:p>
        </p:txBody>
      </p:sp>
      <p:sp>
        <p:nvSpPr>
          <p:cNvPr id="4" name="">
            <a:extLst xmlns:a="http://schemas.openxmlformats.org/drawingml/2006/main">
              <a:ext uri="{FF2B5EF4-FFF2-40B4-BE49-F238E27FC236}">
                <a16:creationId xmlns:a16="http://schemas.microsoft.com/office/drawing/2014/main" id="{FC6A25B6-708A-4C13-81F9-EDF8A25B8EF3}"/>
              </a:ext>
            </a:extLst>
          </p:cNvPr>
          <p:cNvSpPr>
            <a:spLocks xmlns:a="http://schemas.openxmlformats.org/drawingml/2006/main" noGrp="1"/>
          </p:cNvSpPr>
          <p:nvPr/>
        </p:nvSpPr>
        <p:spPr>
          <a:xfrm xmlns:a="http://schemas.openxmlformats.org/drawingml/2006/main">
            <a:off x="609600" y="19431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Calibration had only one selected event</a:t>
            </a:r>
          </a:p>
        </p:txBody>
      </p:sp>
      <p:sp>
        <p:nvSpPr>
          <p:cNvPr id="5" name="">
            <a:extLst xmlns:a="http://schemas.openxmlformats.org/drawingml/2006/main">
              <a:ext uri="{FF2B5EF4-FFF2-40B4-BE49-F238E27FC236}">
                <a16:creationId xmlns:a16="http://schemas.microsoft.com/office/drawing/2014/main" id="{BAD48BBD-49C6-4E2C-A70B-37FDF1A27EBC}"/>
              </a:ext>
            </a:extLst>
          </p:cNvPr>
          <p:cNvSpPr>
            <a:spLocks xmlns:a="http://schemas.openxmlformats.org/drawingml/2006/main" noGrp="1"/>
          </p:cNvSpPr>
          <p:nvPr/>
        </p:nvSpPr>
        <p:spPr>
          <a:xfrm xmlns:a="http://schemas.openxmlformats.org/drawingml/2006/main">
            <a:off x="609600" y="247650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a:solidFill>
                  <a:srgbClr val="132B3A"/>
                </a:solidFill>
                <a:latin typeface="Abyssinica SIL"/>
                <a:ea typeface="Abyssinica SIL"/>
                <a:cs typeface="Abyssinica SIL"/>
              </a:defRPr>
            </a:defPPr>
          </a:lstStyle>
          <a:p xmlns:a="http://schemas.openxmlformats.org/drawingml/2006/main">
            <a:pPr algn="l">
              <a:buNone/>
              <a:defRPr sz="2400" b="0">
                <a:solidFill>
                  <a:srgbClr val="132B3A"/>
                </a:solidFill>
                <a:latin typeface="Abyssinica SIL"/>
                <a:ea typeface="Abyssinica SIL"/>
                <a:cs typeface="Abyssinica SIL"/>
              </a:defRPr>
            </a:pPr>
            <a:r>
              <a:rPr sz="2400" b="0">
                <a:solidFill>
                  <a:srgbClr val="132B3A"/>
                </a:solidFill>
                <a:latin typeface="Abyssinica SIL"/>
                <a:ea typeface="Abyssinica SIL"/>
                <a:cs typeface="Abyssinica SIL"/>
              </a:rPr>
              <a:t>Two seeds scored zero throughout all five epochs. The earliest-tie rule therefore selected epoch one.</a:t>
            </a:r>
          </a:p>
        </p:txBody>
      </p:sp>
      <p:sp>
        <p:nvSpPr>
          <p:cNvPr id="6" name="">
            <a:extLst xmlns:a="http://schemas.openxmlformats.org/drawingml/2006/main">
              <a:ext uri="{FF2B5EF4-FFF2-40B4-BE49-F238E27FC236}">
                <a16:creationId xmlns:a16="http://schemas.microsoft.com/office/drawing/2014/main" id="{2A2F2D6E-A1FE-4948-BB36-92120ECD8972}"/>
              </a:ext>
            </a:extLst>
          </p:cNvPr>
          <p:cNvSpPr>
            <a:spLocks xmlns:a="http://schemas.openxmlformats.org/drawingml/2006/main" noGrp="1"/>
          </p:cNvSpPr>
          <p:nvPr/>
        </p:nvSpPr>
        <p:spPr>
          <a:xfrm xmlns:a="http://schemas.openxmlformats.org/drawingml/2006/main">
            <a:off x="609600" y="37433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Lower reconstruction error was insufficient</a:t>
            </a:r>
          </a:p>
        </p:txBody>
      </p:sp>
      <p:sp>
        <p:nvSpPr>
          <p:cNvPr id="7" name="">
            <a:extLst xmlns:a="http://schemas.openxmlformats.org/drawingml/2006/main">
              <a:ext uri="{FF2B5EF4-FFF2-40B4-BE49-F238E27FC236}">
                <a16:creationId xmlns:a16="http://schemas.microsoft.com/office/drawing/2014/main" id="{970DA417-5635-4738-B2E9-2D949ACE1AE2}"/>
              </a:ext>
            </a:extLst>
          </p:cNvPr>
          <p:cNvSpPr>
            <a:spLocks xmlns:a="http://schemas.openxmlformats.org/drawingml/2006/main" noGrp="1"/>
          </p:cNvSpPr>
          <p:nvPr/>
        </p:nvSpPr>
        <p:spPr>
          <a:xfrm xmlns:a="http://schemas.openxmlformats.org/drawingml/2006/main">
            <a:off x="609600" y="429577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a:solidFill>
                  <a:srgbClr val="132B3A"/>
                </a:solidFill>
                <a:latin typeface="Abyssinica SIL"/>
                <a:ea typeface="Abyssinica SIL"/>
                <a:cs typeface="Abyssinica SIL"/>
              </a:defRPr>
            </a:defPPr>
          </a:lstStyle>
          <a:p xmlns:a="http://schemas.openxmlformats.org/drawingml/2006/main">
            <a:pPr algn="l">
              <a:buNone/>
              <a:defRPr sz="2325" b="0">
                <a:solidFill>
                  <a:srgbClr val="132B3A"/>
                </a:solidFill>
                <a:latin typeface="Abyssinica SIL"/>
                <a:ea typeface="Abyssinica SIL"/>
                <a:cs typeface="Abyssinica SIL"/>
              </a:defRPr>
            </a:pPr>
            <a:r>
              <a:rPr sz="2325" b="0">
                <a:solidFill>
                  <a:srgbClr val="132B3A"/>
                </a:solidFill>
                <a:latin typeface="Abyssinica SIL"/>
                <a:ea typeface="Abyssinica SIL"/>
                <a:cs typeface="Abyssinica SIL"/>
              </a:rPr>
              <a:t>Average normal error improved, but some normal observations still had large errors. Real-event separation remained weak.</a:t>
            </a:r>
          </a:p>
        </p:txBody>
      </p:sp>
      <p:sp>
        <p:nvSpPr>
          <p:cNvPr id="8" name="">
            <a:extLst xmlns:a="http://schemas.openxmlformats.org/drawingml/2006/main">
              <a:ext uri="{FF2B5EF4-FFF2-40B4-BE49-F238E27FC236}">
                <a16:creationId xmlns:a16="http://schemas.microsoft.com/office/drawing/2014/main" id="{8D9731C9-C64D-4F8E-8E6D-185DF11468CB}"/>
              </a:ext>
            </a:extLst>
          </p:cNvPr>
          <p:cNvSpPr>
            <a:spLocks xmlns:a="http://schemas.openxmlformats.org/drawingml/2006/main" noGrp="1"/>
          </p:cNvSpPr>
          <p:nvPr/>
        </p:nvSpPr>
        <p:spPr>
          <a:xfrm xmlns:a="http://schemas.openxmlformats.org/drawingml/2006/main">
            <a:off x="609600" y="58769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The saved decision rules were retained for the calibration-transfer analysis.</a:t>
            </a:r>
          </a:p>
        </p:txBody>
      </p:sp>
    </p:spTree>
    <p:extLst>
      <p:ext uri="{BB962C8B-B14F-4D97-AF65-F5344CB8AC3E}">
        <p14:creationId xmlns:p14="http://schemas.microsoft.com/office/powerpoint/2010/main" val="50563972"/>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C443DD-EFD3-49B8-A3D2-958B487F5D0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A controlled internal comparison protocol</a:t>
            </a:r>
          </a:p>
        </p:txBody>
      </p:sp>
      <p:sp>
        <p:nvSpPr>
          <p:cNvPr id="2" name="">
            <a:extLst xmlns:a="http://schemas.openxmlformats.org/drawingml/2006/main">
              <a:ext uri="{FF2B5EF4-FFF2-40B4-BE49-F238E27FC236}">
                <a16:creationId xmlns:a16="http://schemas.microsoft.com/office/drawing/2014/main" id="{D3FB042B-4C71-42BE-B875-FDDC0155894E}"/>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Each fold calibrates on January–June of its validation year</a:t>
            </a:r>
          </a:p>
        </p:txBody>
      </p:sp>
      <p:sp>
        <p:nvSpPr>
          <p:cNvPr id="3" name="">
            <a:extLst xmlns:a="http://schemas.openxmlformats.org/drawingml/2006/main">
              <a:ext uri="{FF2B5EF4-FFF2-40B4-BE49-F238E27FC236}">
                <a16:creationId xmlns:a16="http://schemas.microsoft.com/office/drawing/2014/main" id="{A65AB046-80E8-46EC-99B7-5E31E220AF70}"/>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5</a:t>
            </a:r>
          </a:p>
        </p:txBody>
      </p:sp>
      <p:graphicFrame>
        <p:nvGraphicFramePr>
          <p:cNvPr id="11" name="">
            <a:extLst xmlns:a="http://schemas.openxmlformats.org/drawingml/2006/main">
              <a:ext uri="{FF2B5EF4-FFF2-40B4-BE49-F238E27FC236}">
                <a16:creationId xmlns:a16="http://schemas.microsoft.com/office/drawing/2014/main" id="{55654CA2-81D8-44B4-9223-2309FFCEAAE0}"/>
              </a:ext>
            </a:extLst>
          </p:cNvPr>
          <p:cNvGraphicFramePr/>
          <p:nvPr/>
        </p:nvGraphicFramePr>
        <p:xfrm>
          <a:off xmlns:a="http://schemas.openxmlformats.org/drawingml/2006/main" x="609600" y="1914525"/>
          <a:ext xmlns:a="http://schemas.openxmlformats.org/drawingml/2006/main" cx="10972800" cy="2047875"/>
        </p:xfrm>
        <a:graphic xmlns:a="http://schemas.openxmlformats.org/drawingml/2006/main">
          <a:graphicData uri="http://schemas.openxmlformats.org/drawingml/2006/table">
            <a:tbl>
              <a:tblPr/>
              <a:tblGrid>
                <a:gridCol w="3143250"/>
                <a:gridCol w="3914775"/>
                <a:gridCol w="3914775"/>
              </a:tblGrid>
              <a:tr h="682625">
                <a:tc>
                  <a:txBody>
                    <a:bodyPr/>
                    <a:lstStyle/>
                    <a:p>
                      <a:r>
                        <a:rPr sz="1875" b="1">
                          <a:solidFill>
                            <a:srgbClr val="FFFFFF"/>
                          </a:solidFill>
                          <a:latin typeface="Abyssinica SIL"/>
                          <a:ea typeface="Abyssinica SIL"/>
                          <a:cs typeface="Abyssinica SIL"/>
                        </a:rPr>
                        <a:t>Fold</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Training years</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Real validation</a:t>
                      </a:r>
                    </a:p>
                  </a:txBody>
                  <a:tcPr marL="91440" marR="91440" marT="45720" marB="45720">
                    <a:solidFill>
                      <a:srgbClr val="132B3A"/>
                    </a:solidFill>
                  </a:tcPr>
                </a:tc>
              </a:tr>
              <a:tr h="682625">
                <a:tc>
                  <a:txBody>
                    <a:bodyPr/>
                    <a:lstStyle/>
                    <a:p>
                      <a:r>
                        <a:rPr sz="1875" b="0">
                          <a:solidFill>
                            <a:srgbClr val="132B3A"/>
                          </a:solidFill>
                          <a:latin typeface="Abyssinica SIL"/>
                          <a:ea typeface="Abyssinica SIL"/>
                          <a:cs typeface="Abyssinica SIL"/>
                        </a:rPr>
                        <a:t>2001</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2000</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July–December 2001</a:t>
                      </a:r>
                    </a:p>
                  </a:txBody>
                  <a:tcPr marL="91440" marR="91440" marT="45720" marB="45720">
                    <a:solidFill>
                      <a:srgbClr val="FFFFFF"/>
                    </a:solidFill>
                  </a:tcPr>
                </a:tc>
              </a:tr>
              <a:tr h="682625">
                <a:tc>
                  <a:txBody>
                    <a:bodyPr/>
                    <a:lstStyle/>
                    <a:p>
                      <a:r>
                        <a:rPr sz="1875" b="0">
                          <a:solidFill>
                            <a:srgbClr val="132B3A"/>
                          </a:solidFill>
                          <a:latin typeface="Abyssinica SIL"/>
                          <a:ea typeface="Abyssinica SIL"/>
                          <a:cs typeface="Abyssinica SIL"/>
                        </a:rPr>
                        <a:t>2002</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2000–2001</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July–December 2002</a:t>
                      </a:r>
                    </a:p>
                  </a:txBody>
                  <a:tcPr marL="91440" marR="91440" marT="45720" marB="45720">
                    <a:solidFill>
                      <a:srgbClr val="EDF3F5"/>
                    </a:solidFill>
                  </a:tcPr>
                </a:tc>
              </a:tr>
            </a:tbl>
          </a:graphicData>
        </a:graphic>
      </p:graphicFrame>
      <p:sp>
        <p:nvSpPr>
          <p:cNvPr id="5" name="">
            <a:extLst xmlns:a="http://schemas.openxmlformats.org/drawingml/2006/main">
              <a:ext uri="{FF2B5EF4-FFF2-40B4-BE49-F238E27FC236}">
                <a16:creationId xmlns:a16="http://schemas.microsoft.com/office/drawing/2014/main" id="{E10DC089-DEA2-4247-BA10-59C08BE3B8FC}"/>
              </a:ext>
            </a:extLst>
          </p:cNvPr>
          <p:cNvSpPr>
            <a:spLocks xmlns:a="http://schemas.openxmlformats.org/drawingml/2006/main" noGrp="1"/>
          </p:cNvSpPr>
          <p:nvPr/>
        </p:nvSpPr>
        <p:spPr>
          <a:xfrm xmlns:a="http://schemas.openxmlformats.org/drawingml/2006/main">
            <a:off x="609600" y="42672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1">
                <a:solidFill>
                  <a:srgbClr val="087E8B"/>
                </a:solidFill>
                <a:latin typeface="Abyssinica SIL"/>
                <a:ea typeface="Abyssinica SIL"/>
                <a:cs typeface="Abyssinica SIL"/>
              </a:defRPr>
            </a:defPPr>
          </a:lstStyle>
          <a:p xmlns:a="http://schemas.openxmlformats.org/drawingml/2006/main">
            <a:pPr algn="l">
              <a:buNone/>
              <a:defRPr sz="2325" b="1">
                <a:solidFill>
                  <a:srgbClr val="087E8B"/>
                </a:solidFill>
                <a:latin typeface="Abyssinica SIL"/>
                <a:ea typeface="Abyssinica SIL"/>
                <a:cs typeface="Abyssinica SIL"/>
              </a:defRPr>
            </a:pPr>
            <a:r>
              <a:rPr sz="2325" b="1">
                <a:solidFill>
                  <a:srgbClr val="087E8B"/>
                </a:solidFill>
                <a:latin typeface="Abyssinica SIL"/>
                <a:ea typeface="Abyssinica SIL"/>
                <a:cs typeface="Abyssinica SIL"/>
              </a:rPr>
              <a:t>Matched budgets and real observations</a:t>
            </a:r>
          </a:p>
        </p:txBody>
      </p:sp>
      <p:sp>
        <p:nvSpPr>
          <p:cNvPr id="6" name="">
            <a:extLst xmlns:a="http://schemas.openxmlformats.org/drawingml/2006/main">
              <a:ext uri="{FF2B5EF4-FFF2-40B4-BE49-F238E27FC236}">
                <a16:creationId xmlns:a16="http://schemas.microsoft.com/office/drawing/2014/main" id="{6B6ABAC6-5424-4870-AA7E-DB96174144E5}"/>
              </a:ext>
            </a:extLst>
          </p:cNvPr>
          <p:cNvSpPr>
            <a:spLocks xmlns:a="http://schemas.openxmlformats.org/drawingml/2006/main" noGrp="1"/>
          </p:cNvSpPr>
          <p:nvPr/>
        </p:nvSpPr>
        <p:spPr>
          <a:xfrm xmlns:a="http://schemas.openxmlformats.org/drawingml/2006/main">
            <a:off x="609600" y="47815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75">
                <a:solidFill>
                  <a:srgbClr val="132B3A"/>
                </a:solidFill>
                <a:latin typeface="Abyssinica SIL"/>
                <a:ea typeface="Abyssinica SIL"/>
                <a:cs typeface="Abyssinica SIL"/>
              </a:defRPr>
            </a:defPPr>
          </a:lstStyle>
          <a:p xmlns:a="http://schemas.openxmlformats.org/drawingml/2006/main">
            <a:pPr algn="l">
              <a:buNone/>
              <a:defRPr sz="2175" b="0">
                <a:solidFill>
                  <a:srgbClr val="132B3A"/>
                </a:solidFill>
                <a:latin typeface="Abyssinica SIL"/>
                <a:ea typeface="Abyssinica SIL"/>
                <a:cs typeface="Abyssinica SIL"/>
              </a:defRPr>
            </a:pPr>
            <a:r>
              <a:rPr sz="2175" b="0">
                <a:solidFill>
                  <a:srgbClr val="132B3A"/>
                </a:solidFill>
                <a:latin typeface="Abyssinica SIL"/>
                <a:ea typeface="Abyssinica SIL"/>
                <a:cs typeface="Abyssinica SIL"/>
              </a:rPr>
              <a:t>Neural comparisons: five epochs, 25,000 nominal windows and three seeds. Synthetic anomalies appear only in training.</a:t>
            </a:r>
          </a:p>
        </p:txBody>
      </p:sp>
      <p:sp>
        <p:nvSpPr>
          <p:cNvPr id="7" name="">
            <a:extLst xmlns:a="http://schemas.openxmlformats.org/drawingml/2006/main">
              <a:ext uri="{FF2B5EF4-FFF2-40B4-BE49-F238E27FC236}">
                <a16:creationId xmlns:a16="http://schemas.microsoft.com/office/drawing/2014/main" id="{835DF427-114E-4659-A1ED-AAE218A514EF}"/>
              </a:ext>
            </a:extLst>
          </p:cNvPr>
          <p:cNvSpPr>
            <a:spLocks xmlns:a="http://schemas.openxmlformats.org/drawingml/2006/main" noGrp="1"/>
          </p:cNvSpPr>
          <p:nvPr/>
        </p:nvSpPr>
        <p:spPr>
          <a:xfrm xmlns:a="http://schemas.openxmlformats.org/drawingml/2006/main">
            <a:off x="609600" y="5667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025">
                <a:solidFill>
                  <a:srgbClr val="132B3A"/>
                </a:solidFill>
                <a:latin typeface="Abyssinica SIL"/>
                <a:ea typeface="Abyssinica SIL"/>
                <a:cs typeface="Abyssinica SIL"/>
              </a:defRPr>
            </a:defPPr>
          </a:lstStyle>
          <a:p xmlns:a="http://schemas.openxmlformats.org/drawingml/2006/main">
            <a:pPr algn="l">
              <a:buNone/>
              <a:defRPr sz="2025" b="0">
                <a:solidFill>
                  <a:srgbClr val="132B3A"/>
                </a:solidFill>
                <a:latin typeface="Abyssinica SIL"/>
                <a:ea typeface="Abyssinica SIL"/>
                <a:cs typeface="Abyssinica SIL"/>
              </a:defRPr>
            </a:pPr>
            <a:r>
              <a:rPr sz="2025" b="0">
                <a:solidFill>
                  <a:srgbClr val="132B3A"/>
                </a:solidFill>
                <a:latin typeface="Abyssinica SIL"/>
                <a:ea typeface="Abyssinica SIL"/>
                <a:cs typeface="Abyssinica SIL"/>
              </a:rPr>
              <a:t>Checkpoint and alarm settings were frozen before validation.</a:t>
            </a:r>
          </a:p>
        </p:txBody>
      </p:sp>
    </p:spTree>
    <p:extLst>
      <p:ext uri="{BB962C8B-B14F-4D97-AF65-F5344CB8AC3E}">
        <p14:creationId xmlns:p14="http://schemas.microsoft.com/office/powerpoint/2010/main" val="697782398"/>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39C1312-4519-418F-B3D9-BFB054B1025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Checkpoint selection and training loss</a:t>
            </a:r>
          </a:p>
        </p:txBody>
      </p:sp>
      <p:sp>
        <p:nvSpPr>
          <p:cNvPr id="2" name="">
            <a:extLst xmlns:a="http://schemas.openxmlformats.org/drawingml/2006/main">
              <a:ext uri="{FF2B5EF4-FFF2-40B4-BE49-F238E27FC236}">
                <a16:creationId xmlns:a16="http://schemas.microsoft.com/office/drawing/2014/main" id="{0D49B43B-521C-4FCB-8C46-8800225A65DA}"/>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6</a:t>
            </a:r>
          </a:p>
        </p:txBody>
      </p:sp>
      <p:sp>
        <p:nvSpPr>
          <p:cNvPr id="3" name="">
            <a:extLst xmlns:a="http://schemas.openxmlformats.org/drawingml/2006/main">
              <a:ext uri="{FF2B5EF4-FFF2-40B4-BE49-F238E27FC236}">
                <a16:creationId xmlns:a16="http://schemas.microsoft.com/office/drawing/2014/main" id="{A6E43B99-1FAD-4FAA-B37C-E82F960D2AFA}"/>
              </a:ext>
            </a:extLst>
          </p:cNvPr>
          <p:cNvSpPr>
            <a:spLocks xmlns:a="http://schemas.openxmlformats.org/drawingml/2006/main" noGrp="1"/>
          </p:cNvSpPr>
          <p:nvPr/>
        </p:nvSpPr>
        <p:spPr>
          <a:xfrm xmlns:a="http://schemas.openxmlformats.org/drawingml/2006/main">
            <a:off x="609600" y="136207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1">
                <a:solidFill>
                  <a:srgbClr val="087E8B"/>
                </a:solidFill>
                <a:latin typeface="Abyssinica SIL"/>
                <a:ea typeface="Abyssinica SIL"/>
                <a:cs typeface="Abyssinica SIL"/>
              </a:defRPr>
            </a:defPPr>
          </a:lstStyle>
          <a:p xmlns:a="http://schemas.openxmlformats.org/drawingml/2006/main">
            <a:pPr algn="l">
              <a:buNone/>
              <a:defRPr sz="2325" b="1">
                <a:solidFill>
                  <a:srgbClr val="087E8B"/>
                </a:solidFill>
                <a:latin typeface="Abyssinica SIL"/>
                <a:ea typeface="Abyssinica SIL"/>
                <a:cs typeface="Abyssinica SIL"/>
              </a:defRPr>
            </a:pPr>
            <a:r>
              <a:rPr sz="2325" b="1">
                <a:solidFill>
                  <a:srgbClr val="087E8B"/>
                </a:solidFill>
                <a:latin typeface="Abyssinica SIL"/>
                <a:ea typeface="Abyssinica SIL"/>
                <a:cs typeface="Abyssinica SIL"/>
              </a:rPr>
              <a:t>Fixed fifth epoch</a:t>
            </a:r>
          </a:p>
        </p:txBody>
      </p:sp>
      <p:sp>
        <p:nvSpPr>
          <p:cNvPr id="4" name="">
            <a:extLst xmlns:a="http://schemas.openxmlformats.org/drawingml/2006/main">
              <a:ext uri="{FF2B5EF4-FFF2-40B4-BE49-F238E27FC236}">
                <a16:creationId xmlns:a16="http://schemas.microsoft.com/office/drawing/2014/main" id="{6B40AA31-38EF-462D-B520-E931F55F7E0D}"/>
              </a:ext>
            </a:extLst>
          </p:cNvPr>
          <p:cNvSpPr>
            <a:spLocks xmlns:a="http://schemas.openxmlformats.org/drawingml/2006/main" noGrp="1"/>
          </p:cNvSpPr>
          <p:nvPr/>
        </p:nvSpPr>
        <p:spPr>
          <a:xfrm xmlns:a="http://schemas.openxmlformats.org/drawingml/2006/main">
            <a:off x="609600" y="18478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Modification</a:t>
            </a:r>
          </a:p>
        </p:txBody>
      </p:sp>
      <p:sp>
        <p:nvSpPr>
          <p:cNvPr id="5" name="">
            <a:extLst xmlns:a="http://schemas.openxmlformats.org/drawingml/2006/main">
              <a:ext uri="{FF2B5EF4-FFF2-40B4-BE49-F238E27FC236}">
                <a16:creationId xmlns:a16="http://schemas.microsoft.com/office/drawing/2014/main" id="{F3641B58-928C-4EBE-A122-89690377C9A6}"/>
              </a:ext>
            </a:extLst>
          </p:cNvPr>
          <p:cNvSpPr>
            <a:spLocks xmlns:a="http://schemas.openxmlformats.org/drawingml/2006/main" noGrp="1"/>
          </p:cNvSpPr>
          <p:nvPr/>
        </p:nvSpPr>
        <p:spPr>
          <a:xfrm xmlns:a="http://schemas.openxmlformats.org/drawingml/2006/main">
            <a:off x="2952750" y="184785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Used epoch five instead of the calibration-selected checkpoint.</a:t>
            </a:r>
          </a:p>
        </p:txBody>
      </p:sp>
      <p:sp>
        <p:nvSpPr>
          <p:cNvPr id="6" name="">
            <a:extLst xmlns:a="http://schemas.openxmlformats.org/drawingml/2006/main">
              <a:ext uri="{FF2B5EF4-FFF2-40B4-BE49-F238E27FC236}">
                <a16:creationId xmlns:a16="http://schemas.microsoft.com/office/drawing/2014/main" id="{A0CD1D9F-3548-415D-B6AD-188363C4B939}"/>
              </a:ext>
            </a:extLst>
          </p:cNvPr>
          <p:cNvSpPr>
            <a:spLocks xmlns:a="http://schemas.openxmlformats.org/drawingml/2006/main" noGrp="1"/>
          </p:cNvSpPr>
          <p:nvPr/>
        </p:nvSpPr>
        <p:spPr>
          <a:xfrm xmlns:a="http://schemas.openxmlformats.org/drawingml/2006/main">
            <a:off x="609600" y="24765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Rationale</a:t>
            </a:r>
          </a:p>
        </p:txBody>
      </p:sp>
      <p:sp>
        <p:nvSpPr>
          <p:cNvPr id="7" name="">
            <a:extLst xmlns:a="http://schemas.openxmlformats.org/drawingml/2006/main">
              <a:ext uri="{FF2B5EF4-FFF2-40B4-BE49-F238E27FC236}">
                <a16:creationId xmlns:a16="http://schemas.microsoft.com/office/drawing/2014/main" id="{AE0C49AA-00B0-47E7-A3C9-AEC6AE23B918}"/>
              </a:ext>
            </a:extLst>
          </p:cNvPr>
          <p:cNvSpPr>
            <a:spLocks xmlns:a="http://schemas.openxmlformats.org/drawingml/2006/main" noGrp="1"/>
          </p:cNvSpPr>
          <p:nvPr/>
        </p:nvSpPr>
        <p:spPr>
          <a:xfrm xmlns:a="http://schemas.openxmlformats.org/drawingml/2006/main">
            <a:off x="2952750" y="247650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Test whether weak calibration was choosing the wrong epoch.</a:t>
            </a:r>
          </a:p>
        </p:txBody>
      </p:sp>
      <p:sp>
        <p:nvSpPr>
          <p:cNvPr id="8" name="">
            <a:extLst xmlns:a="http://schemas.openxmlformats.org/drawingml/2006/main">
              <a:ext uri="{FF2B5EF4-FFF2-40B4-BE49-F238E27FC236}">
                <a16:creationId xmlns:a16="http://schemas.microsoft.com/office/drawing/2014/main" id="{2326312A-2D89-48FE-83E5-1F59D76033AB}"/>
              </a:ext>
            </a:extLst>
          </p:cNvPr>
          <p:cNvSpPr>
            <a:spLocks xmlns:a="http://schemas.openxmlformats.org/drawingml/2006/main" noGrp="1"/>
          </p:cNvSpPr>
          <p:nvPr/>
        </p:nvSpPr>
        <p:spPr>
          <a:xfrm xmlns:a="http://schemas.openxmlformats.org/drawingml/2006/main">
            <a:off x="609600" y="31051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Findings</a:t>
            </a:r>
          </a:p>
        </p:txBody>
      </p:sp>
      <p:sp>
        <p:nvSpPr>
          <p:cNvPr id="9" name="">
            <a:extLst xmlns:a="http://schemas.openxmlformats.org/drawingml/2006/main">
              <a:ext uri="{FF2B5EF4-FFF2-40B4-BE49-F238E27FC236}">
                <a16:creationId xmlns:a16="http://schemas.microsoft.com/office/drawing/2014/main" id="{273F4711-A68E-4C88-AF6F-6B721A408D33}"/>
              </a:ext>
            </a:extLst>
          </p:cNvPr>
          <p:cNvSpPr>
            <a:spLocks xmlns:a="http://schemas.openxmlformats.org/drawingml/2006/main" noGrp="1"/>
          </p:cNvSpPr>
          <p:nvPr/>
        </p:nvSpPr>
        <p:spPr>
          <a:xfrm xmlns:a="http://schemas.openxmlformats.org/drawingml/2006/main">
            <a:off x="2952750" y="31051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Both policies missed every event. In 2002, mean false events rose from 53 to 100.</a:t>
            </a:r>
          </a:p>
        </p:txBody>
      </p:sp>
      <p:sp>
        <p:nvSpPr>
          <p:cNvPr id="10" name="">
            <a:extLst xmlns:a="http://schemas.openxmlformats.org/drawingml/2006/main">
              <a:ext uri="{FF2B5EF4-FFF2-40B4-BE49-F238E27FC236}">
                <a16:creationId xmlns:a16="http://schemas.microsoft.com/office/drawing/2014/main" id="{95701ED5-785C-4FDE-AE05-236E3A2619D7}"/>
              </a:ext>
            </a:extLst>
          </p:cNvPr>
          <p:cNvSpPr>
            <a:spLocks xmlns:a="http://schemas.openxmlformats.org/drawingml/2006/main" noGrp="1"/>
          </p:cNvSpPr>
          <p:nvPr/>
        </p:nvSpPr>
        <p:spPr>
          <a:xfrm xmlns:a="http://schemas.openxmlformats.org/drawingml/2006/main">
            <a:off x="609600" y="389572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1">
                <a:solidFill>
                  <a:srgbClr val="087E8B"/>
                </a:solidFill>
                <a:latin typeface="Abyssinica SIL"/>
                <a:ea typeface="Abyssinica SIL"/>
                <a:cs typeface="Abyssinica SIL"/>
              </a:defRPr>
            </a:defPPr>
          </a:lstStyle>
          <a:p xmlns:a="http://schemas.openxmlformats.org/drawingml/2006/main">
            <a:pPr algn="l">
              <a:buNone/>
              <a:defRPr sz="2325" b="1">
                <a:solidFill>
                  <a:srgbClr val="087E8B"/>
                </a:solidFill>
                <a:latin typeface="Abyssinica SIL"/>
                <a:ea typeface="Abyssinica SIL"/>
                <a:cs typeface="Abyssinica SIL"/>
              </a:defRPr>
            </a:pPr>
            <a:r>
              <a:rPr sz="2325" b="1">
                <a:solidFill>
                  <a:srgbClr val="087E8B"/>
                </a:solidFill>
                <a:latin typeface="Abyssinica SIL"/>
                <a:ea typeface="Abyssinica SIL"/>
                <a:cs typeface="Abyssinica SIL"/>
              </a:rPr>
              <a:t>Smaller artificial-anomaly penalty</a:t>
            </a:r>
          </a:p>
        </p:txBody>
      </p:sp>
      <p:sp>
        <p:nvSpPr>
          <p:cNvPr id="11" name="">
            <a:extLst xmlns:a="http://schemas.openxmlformats.org/drawingml/2006/main">
              <a:ext uri="{FF2B5EF4-FFF2-40B4-BE49-F238E27FC236}">
                <a16:creationId xmlns:a16="http://schemas.microsoft.com/office/drawing/2014/main" id="{212CCBFA-A5FE-4656-A30B-234485D114B1}"/>
              </a:ext>
            </a:extLst>
          </p:cNvPr>
          <p:cNvSpPr>
            <a:spLocks xmlns:a="http://schemas.openxmlformats.org/drawingml/2006/main" noGrp="1"/>
          </p:cNvSpPr>
          <p:nvPr/>
        </p:nvSpPr>
        <p:spPr>
          <a:xfrm xmlns:a="http://schemas.openxmlformats.org/drawingml/2006/main">
            <a:off x="609600" y="43815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Modification</a:t>
            </a:r>
          </a:p>
        </p:txBody>
      </p:sp>
      <p:sp>
        <p:nvSpPr>
          <p:cNvPr id="12" name="">
            <a:extLst xmlns:a="http://schemas.openxmlformats.org/drawingml/2006/main">
              <a:ext uri="{FF2B5EF4-FFF2-40B4-BE49-F238E27FC236}">
                <a16:creationId xmlns:a16="http://schemas.microsoft.com/office/drawing/2014/main" id="{B4535446-B3A0-413F-90BF-BCBA4193593B}"/>
              </a:ext>
            </a:extLst>
          </p:cNvPr>
          <p:cNvSpPr>
            <a:spLocks xmlns:a="http://schemas.openxmlformats.org/drawingml/2006/main" noGrp="1"/>
          </p:cNvSpPr>
          <p:nvPr/>
        </p:nvSpPr>
        <p:spPr>
          <a:xfrm xmlns:a="http://schemas.openxmlformats.org/drawingml/2006/main">
            <a:off x="2952750" y="438150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Reduced its training-loss weight from 1 to 0.1.</a:t>
            </a:r>
          </a:p>
        </p:txBody>
      </p:sp>
      <p:sp>
        <p:nvSpPr>
          <p:cNvPr id="13" name="">
            <a:extLst xmlns:a="http://schemas.openxmlformats.org/drawingml/2006/main">
              <a:ext uri="{FF2B5EF4-FFF2-40B4-BE49-F238E27FC236}">
                <a16:creationId xmlns:a16="http://schemas.microsoft.com/office/drawing/2014/main" id="{2CEC99DC-B5C8-4572-9F47-05735841317D}"/>
              </a:ext>
            </a:extLst>
          </p:cNvPr>
          <p:cNvSpPr>
            <a:spLocks xmlns:a="http://schemas.openxmlformats.org/drawingml/2006/main" noGrp="1"/>
          </p:cNvSpPr>
          <p:nvPr/>
        </p:nvSpPr>
        <p:spPr>
          <a:xfrm xmlns:a="http://schemas.openxmlformats.org/drawingml/2006/main">
            <a:off x="609600" y="50101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Rationale</a:t>
            </a:r>
          </a:p>
        </p:txBody>
      </p:sp>
      <p:sp>
        <p:nvSpPr>
          <p:cNvPr id="14" name="">
            <a:extLst xmlns:a="http://schemas.openxmlformats.org/drawingml/2006/main">
              <a:ext uri="{FF2B5EF4-FFF2-40B4-BE49-F238E27FC236}">
                <a16:creationId xmlns:a16="http://schemas.microsoft.com/office/drawing/2014/main" id="{BA9DDC5B-4451-4F98-9C33-1B813A841F7A}"/>
              </a:ext>
            </a:extLst>
          </p:cNvPr>
          <p:cNvSpPr>
            <a:spLocks xmlns:a="http://schemas.openxmlformats.org/drawingml/2006/main" noGrp="1"/>
          </p:cNvSpPr>
          <p:nvPr/>
        </p:nvSpPr>
        <p:spPr>
          <a:xfrm xmlns:a="http://schemas.openxmlformats.org/drawingml/2006/main">
            <a:off x="2952750" y="501015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Reduce training pressure from generated anomalies.</a:t>
            </a:r>
          </a:p>
        </p:txBody>
      </p:sp>
      <p:sp>
        <p:nvSpPr>
          <p:cNvPr id="15" name="">
            <a:extLst xmlns:a="http://schemas.openxmlformats.org/drawingml/2006/main">
              <a:ext uri="{FF2B5EF4-FFF2-40B4-BE49-F238E27FC236}">
                <a16:creationId xmlns:a16="http://schemas.microsoft.com/office/drawing/2014/main" id="{2E6E6FD6-D4D9-45E5-8C5F-854784A1075F}"/>
              </a:ext>
            </a:extLst>
          </p:cNvPr>
          <p:cNvSpPr>
            <a:spLocks xmlns:a="http://schemas.openxmlformats.org/drawingml/2006/main" noGrp="1"/>
          </p:cNvSpPr>
          <p:nvPr/>
        </p:nvSpPr>
        <p:spPr>
          <a:xfrm xmlns:a="http://schemas.openxmlformats.org/drawingml/2006/main">
            <a:off x="609600" y="56388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Findings</a:t>
            </a:r>
          </a:p>
        </p:txBody>
      </p:sp>
      <p:sp>
        <p:nvSpPr>
          <p:cNvPr id="16" name="">
            <a:extLst xmlns:a="http://schemas.openxmlformats.org/drawingml/2006/main">
              <a:ext uri="{FF2B5EF4-FFF2-40B4-BE49-F238E27FC236}">
                <a16:creationId xmlns:a16="http://schemas.microsoft.com/office/drawing/2014/main" id="{FED407E6-7EDC-441B-A145-FD330EA98AEC}"/>
              </a:ext>
            </a:extLst>
          </p:cNvPr>
          <p:cNvSpPr>
            <a:spLocks xmlns:a="http://schemas.openxmlformats.org/drawingml/2006/main" noGrp="1"/>
          </p:cNvSpPr>
          <p:nvPr/>
        </p:nvSpPr>
        <p:spPr>
          <a:xfrm xmlns:a="http://schemas.openxmlformats.org/drawingml/2006/main">
            <a:off x="2952750" y="563880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Normal reconstruction improved, but 2002 mean false events rose from 53 to 159.</a:t>
            </a:r>
          </a:p>
        </p:txBody>
      </p:sp>
    </p:spTree>
    <p:extLst>
      <p:ext uri="{BB962C8B-B14F-4D97-AF65-F5344CB8AC3E}">
        <p14:creationId xmlns:p14="http://schemas.microsoft.com/office/powerpoint/2010/main" val="1293071167"/>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39C1312-4519-418F-B3D9-BFB054B1025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Channel 47 sensitivity and channel isolation</a:t>
            </a:r>
          </a:p>
        </p:txBody>
      </p:sp>
      <p:sp>
        <p:nvSpPr>
          <p:cNvPr id="2" name="">
            <a:extLst xmlns:a="http://schemas.openxmlformats.org/drawingml/2006/main">
              <a:ext uri="{FF2B5EF4-FFF2-40B4-BE49-F238E27FC236}">
                <a16:creationId xmlns:a16="http://schemas.microsoft.com/office/drawing/2014/main" id="{0D49B43B-521C-4FCB-8C46-8800225A65DA}"/>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7</a:t>
            </a:r>
          </a:p>
        </p:txBody>
      </p:sp>
      <p:sp>
        <p:nvSpPr>
          <p:cNvPr id="3" name="">
            <a:extLst xmlns:a="http://schemas.openxmlformats.org/drawingml/2006/main">
              <a:ext uri="{FF2B5EF4-FFF2-40B4-BE49-F238E27FC236}">
                <a16:creationId xmlns:a16="http://schemas.microsoft.com/office/drawing/2014/main" id="{A6E43B99-1FAD-4FAA-B37C-E82F960D2AFA}"/>
              </a:ext>
            </a:extLst>
          </p:cNvPr>
          <p:cNvSpPr>
            <a:spLocks xmlns:a="http://schemas.openxmlformats.org/drawingml/2006/main" noGrp="1"/>
          </p:cNvSpPr>
          <p:nvPr/>
        </p:nvSpPr>
        <p:spPr>
          <a:xfrm xmlns:a="http://schemas.openxmlformats.org/drawingml/2006/main">
            <a:off x="609600" y="136207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1">
                <a:solidFill>
                  <a:srgbClr val="087E8B"/>
                </a:solidFill>
                <a:latin typeface="Abyssinica SIL"/>
                <a:ea typeface="Abyssinica SIL"/>
                <a:cs typeface="Abyssinica SIL"/>
              </a:defRPr>
            </a:defPPr>
          </a:lstStyle>
          <a:p xmlns:a="http://schemas.openxmlformats.org/drawingml/2006/main">
            <a:pPr algn="l">
              <a:buNone/>
              <a:defRPr sz="2325" b="1">
                <a:solidFill>
                  <a:srgbClr val="087E8B"/>
                </a:solidFill>
                <a:latin typeface="Abyssinica SIL"/>
                <a:ea typeface="Abyssinica SIL"/>
                <a:cs typeface="Abyssinica SIL"/>
              </a:defRPr>
            </a:pPr>
            <a:r>
              <a:rPr sz="2325" b="1">
                <a:solidFill>
                  <a:srgbClr val="087E8B"/>
                </a:solidFill>
                <a:latin typeface="Abyssinica SIL"/>
                <a:ea typeface="Abyssinica SIL"/>
                <a:cs typeface="Abyssinica SIL"/>
              </a:rPr>
              <a:t>Frozen-model intervention</a:t>
            </a:r>
          </a:p>
        </p:txBody>
      </p:sp>
      <p:sp>
        <p:nvSpPr>
          <p:cNvPr id="4" name="">
            <a:extLst xmlns:a="http://schemas.openxmlformats.org/drawingml/2006/main">
              <a:ext uri="{FF2B5EF4-FFF2-40B4-BE49-F238E27FC236}">
                <a16:creationId xmlns:a16="http://schemas.microsoft.com/office/drawing/2014/main" id="{6B40AA31-38EF-462D-B520-E931F55F7E0D}"/>
              </a:ext>
            </a:extLst>
          </p:cNvPr>
          <p:cNvSpPr>
            <a:spLocks xmlns:a="http://schemas.openxmlformats.org/drawingml/2006/main" noGrp="1"/>
          </p:cNvSpPr>
          <p:nvPr/>
        </p:nvSpPr>
        <p:spPr>
          <a:xfrm xmlns:a="http://schemas.openxmlformats.org/drawingml/2006/main">
            <a:off x="609600" y="18478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Modification</a:t>
            </a:r>
          </a:p>
        </p:txBody>
      </p:sp>
      <p:sp>
        <p:nvSpPr>
          <p:cNvPr id="5" name="">
            <a:extLst xmlns:a="http://schemas.openxmlformats.org/drawingml/2006/main">
              <a:ext uri="{FF2B5EF4-FFF2-40B4-BE49-F238E27FC236}">
                <a16:creationId xmlns:a16="http://schemas.microsoft.com/office/drawing/2014/main" id="{F3641B58-928C-4EBE-A122-89690377C9A6}"/>
              </a:ext>
            </a:extLst>
          </p:cNvPr>
          <p:cNvSpPr>
            <a:spLocks xmlns:a="http://schemas.openxmlformats.org/drawingml/2006/main" noGrp="1"/>
          </p:cNvSpPr>
          <p:nvPr/>
        </p:nvSpPr>
        <p:spPr>
          <a:xfrm xmlns:a="http://schemas.openxmlformats.org/drawingml/2006/main">
            <a:off x="2952750" y="184785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Shifted only channel 47’s level; other channel inputs stayed fixed.</a:t>
            </a:r>
          </a:p>
        </p:txBody>
      </p:sp>
      <p:sp>
        <p:nvSpPr>
          <p:cNvPr id="6" name="">
            <a:extLst xmlns:a="http://schemas.openxmlformats.org/drawingml/2006/main">
              <a:ext uri="{FF2B5EF4-FFF2-40B4-BE49-F238E27FC236}">
                <a16:creationId xmlns:a16="http://schemas.microsoft.com/office/drawing/2014/main" id="{A0CD1D9F-3548-415D-B6AD-188363C4B939}"/>
              </a:ext>
            </a:extLst>
          </p:cNvPr>
          <p:cNvSpPr>
            <a:spLocks xmlns:a="http://schemas.openxmlformats.org/drawingml/2006/main" noGrp="1"/>
          </p:cNvSpPr>
          <p:nvPr/>
        </p:nvSpPr>
        <p:spPr>
          <a:xfrm xmlns:a="http://schemas.openxmlformats.org/drawingml/2006/main">
            <a:off x="609600" y="24765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Rationale</a:t>
            </a:r>
          </a:p>
        </p:txBody>
      </p:sp>
      <p:sp>
        <p:nvSpPr>
          <p:cNvPr id="7" name="">
            <a:extLst xmlns:a="http://schemas.openxmlformats.org/drawingml/2006/main">
              <a:ext uri="{FF2B5EF4-FFF2-40B4-BE49-F238E27FC236}">
                <a16:creationId xmlns:a16="http://schemas.microsoft.com/office/drawing/2014/main" id="{AE0C49AA-00B0-47E7-A3C9-AEC6AE23B918}"/>
              </a:ext>
            </a:extLst>
          </p:cNvPr>
          <p:cNvSpPr>
            <a:spLocks xmlns:a="http://schemas.openxmlformats.org/drawingml/2006/main" noGrp="1"/>
          </p:cNvSpPr>
          <p:nvPr/>
        </p:nvSpPr>
        <p:spPr>
          <a:xfrm xmlns:a="http://schemas.openxmlformats.org/drawingml/2006/main">
            <a:off x="2952750" y="247650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Test whether its changing level affects other reconstructions.</a:t>
            </a:r>
          </a:p>
        </p:txBody>
      </p:sp>
      <p:sp>
        <p:nvSpPr>
          <p:cNvPr id="8" name="">
            <a:extLst xmlns:a="http://schemas.openxmlformats.org/drawingml/2006/main">
              <a:ext uri="{FF2B5EF4-FFF2-40B4-BE49-F238E27FC236}">
                <a16:creationId xmlns:a16="http://schemas.microsoft.com/office/drawing/2014/main" id="{2326312A-2D89-48FE-83E5-1F59D76033AB}"/>
              </a:ext>
            </a:extLst>
          </p:cNvPr>
          <p:cNvSpPr>
            <a:spLocks xmlns:a="http://schemas.openxmlformats.org/drawingml/2006/main" noGrp="1"/>
          </p:cNvSpPr>
          <p:nvPr/>
        </p:nvSpPr>
        <p:spPr>
          <a:xfrm xmlns:a="http://schemas.openxmlformats.org/drawingml/2006/main">
            <a:off x="609600" y="31051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Findings</a:t>
            </a:r>
          </a:p>
        </p:txBody>
      </p:sp>
      <p:sp>
        <p:nvSpPr>
          <p:cNvPr id="9" name="">
            <a:extLst xmlns:a="http://schemas.openxmlformats.org/drawingml/2006/main">
              <a:ext uri="{FF2B5EF4-FFF2-40B4-BE49-F238E27FC236}">
                <a16:creationId xmlns:a16="http://schemas.microsoft.com/office/drawing/2014/main" id="{273F4711-A68E-4C88-AF6F-6B721A408D33}"/>
              </a:ext>
            </a:extLst>
          </p:cNvPr>
          <p:cNvSpPr>
            <a:spLocks xmlns:a="http://schemas.openxmlformats.org/drawingml/2006/main" noGrp="1"/>
          </p:cNvSpPr>
          <p:nvPr/>
        </p:nvSpPr>
        <p:spPr>
          <a:xfrm xmlns:a="http://schemas.openxmlformats.org/drawingml/2006/main">
            <a:off x="2952750" y="31051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It did. Recentering reduced other-channel errors in five of six June 2002 probes.</a:t>
            </a:r>
          </a:p>
        </p:txBody>
      </p:sp>
      <p:sp>
        <p:nvSpPr>
          <p:cNvPr id="10" name="">
            <a:extLst xmlns:a="http://schemas.openxmlformats.org/drawingml/2006/main">
              <a:ext uri="{FF2B5EF4-FFF2-40B4-BE49-F238E27FC236}">
                <a16:creationId xmlns:a16="http://schemas.microsoft.com/office/drawing/2014/main" id="{95701ED5-785C-4FDE-AE05-236E3A2619D7}"/>
              </a:ext>
            </a:extLst>
          </p:cNvPr>
          <p:cNvSpPr>
            <a:spLocks xmlns:a="http://schemas.openxmlformats.org/drawingml/2006/main" noGrp="1"/>
          </p:cNvSpPr>
          <p:nvPr/>
        </p:nvSpPr>
        <p:spPr>
          <a:xfrm xmlns:a="http://schemas.openxmlformats.org/drawingml/2006/main">
            <a:off x="609600" y="389572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1">
                <a:solidFill>
                  <a:srgbClr val="087E8B"/>
                </a:solidFill>
                <a:latin typeface="Abyssinica SIL"/>
                <a:ea typeface="Abyssinica SIL"/>
                <a:cs typeface="Abyssinica SIL"/>
              </a:defRPr>
            </a:defPPr>
          </a:lstStyle>
          <a:p xmlns:a="http://schemas.openxmlformats.org/drawingml/2006/main">
            <a:pPr algn="l">
              <a:buNone/>
              <a:defRPr sz="2325" b="1">
                <a:solidFill>
                  <a:srgbClr val="087E8B"/>
                </a:solidFill>
                <a:latin typeface="Abyssinica SIL"/>
                <a:ea typeface="Abyssinica SIL"/>
                <a:cs typeface="Abyssinica SIL"/>
              </a:defRPr>
            </a:pPr>
            <a:r>
              <a:rPr sz="2325" b="1">
                <a:solidFill>
                  <a:srgbClr val="087E8B"/>
                </a:solidFill>
                <a:latin typeface="Abyssinica SIL"/>
                <a:ea typeface="Abyssinica SIL"/>
                <a:cs typeface="Abyssinica SIL"/>
              </a:rPr>
              <a:t>Channel-isolated reconstruction</a:t>
            </a:r>
          </a:p>
        </p:txBody>
      </p:sp>
      <p:sp>
        <p:nvSpPr>
          <p:cNvPr id="11" name="">
            <a:extLst xmlns:a="http://schemas.openxmlformats.org/drawingml/2006/main">
              <a:ext uri="{FF2B5EF4-FFF2-40B4-BE49-F238E27FC236}">
                <a16:creationId xmlns:a16="http://schemas.microsoft.com/office/drawing/2014/main" id="{212CCBFA-A5FE-4656-A30B-234485D114B1}"/>
              </a:ext>
            </a:extLst>
          </p:cNvPr>
          <p:cNvSpPr>
            <a:spLocks xmlns:a="http://schemas.openxmlformats.org/drawingml/2006/main" noGrp="1"/>
          </p:cNvSpPr>
          <p:nvPr/>
        </p:nvSpPr>
        <p:spPr>
          <a:xfrm xmlns:a="http://schemas.openxmlformats.org/drawingml/2006/main">
            <a:off x="609600" y="43815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Modification</a:t>
            </a:r>
          </a:p>
        </p:txBody>
      </p:sp>
      <p:sp>
        <p:nvSpPr>
          <p:cNvPr id="12" name="">
            <a:extLst xmlns:a="http://schemas.openxmlformats.org/drawingml/2006/main">
              <a:ext uri="{FF2B5EF4-FFF2-40B4-BE49-F238E27FC236}">
                <a16:creationId xmlns:a16="http://schemas.microsoft.com/office/drawing/2014/main" id="{B4535446-B3A0-413F-90BF-BCBA4193593B}"/>
              </a:ext>
            </a:extLst>
          </p:cNvPr>
          <p:cNvSpPr>
            <a:spLocks xmlns:a="http://schemas.openxmlformats.org/drawingml/2006/main" noGrp="1"/>
          </p:cNvSpPr>
          <p:nvPr/>
        </p:nvSpPr>
        <p:spPr>
          <a:xfrm xmlns:a="http://schemas.openxmlformats.org/drawingml/2006/main">
            <a:off x="2952750" y="438150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Restricted channel attention to each channel itself.</a:t>
            </a:r>
          </a:p>
        </p:txBody>
      </p:sp>
      <p:sp>
        <p:nvSpPr>
          <p:cNvPr id="13" name="">
            <a:extLst xmlns:a="http://schemas.openxmlformats.org/drawingml/2006/main">
              <a:ext uri="{FF2B5EF4-FFF2-40B4-BE49-F238E27FC236}">
                <a16:creationId xmlns:a16="http://schemas.microsoft.com/office/drawing/2014/main" id="{2CEC99DC-B5C8-4572-9F47-05735841317D}"/>
              </a:ext>
            </a:extLst>
          </p:cNvPr>
          <p:cNvSpPr>
            <a:spLocks xmlns:a="http://schemas.openxmlformats.org/drawingml/2006/main" noGrp="1"/>
          </p:cNvSpPr>
          <p:nvPr/>
        </p:nvSpPr>
        <p:spPr>
          <a:xfrm xmlns:a="http://schemas.openxmlformats.org/drawingml/2006/main">
            <a:off x="609600" y="50101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Rationale</a:t>
            </a:r>
          </a:p>
        </p:txBody>
      </p:sp>
      <p:sp>
        <p:nvSpPr>
          <p:cNvPr id="14" name="">
            <a:extLst xmlns:a="http://schemas.openxmlformats.org/drawingml/2006/main">
              <a:ext uri="{FF2B5EF4-FFF2-40B4-BE49-F238E27FC236}">
                <a16:creationId xmlns:a16="http://schemas.microsoft.com/office/drawing/2014/main" id="{BA9DDC5B-4451-4F98-9C33-1B813A841F7A}"/>
              </a:ext>
            </a:extLst>
          </p:cNvPr>
          <p:cNvSpPr>
            <a:spLocks xmlns:a="http://schemas.openxmlformats.org/drawingml/2006/main" noGrp="1"/>
          </p:cNvSpPr>
          <p:nvPr/>
        </p:nvSpPr>
        <p:spPr>
          <a:xfrm xmlns:a="http://schemas.openxmlformats.org/drawingml/2006/main">
            <a:off x="2952750" y="501015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Test whether blocking cross-channel mixing improves detection.</a:t>
            </a:r>
          </a:p>
        </p:txBody>
      </p:sp>
      <p:sp>
        <p:nvSpPr>
          <p:cNvPr id="15" name="">
            <a:extLst xmlns:a="http://schemas.openxmlformats.org/drawingml/2006/main">
              <a:ext uri="{FF2B5EF4-FFF2-40B4-BE49-F238E27FC236}">
                <a16:creationId xmlns:a16="http://schemas.microsoft.com/office/drawing/2014/main" id="{2E6E6FD6-D4D9-45E5-8C5F-854784A1075F}"/>
              </a:ext>
            </a:extLst>
          </p:cNvPr>
          <p:cNvSpPr>
            <a:spLocks xmlns:a="http://schemas.openxmlformats.org/drawingml/2006/main" noGrp="1"/>
          </p:cNvSpPr>
          <p:nvPr/>
        </p:nvSpPr>
        <p:spPr>
          <a:xfrm xmlns:a="http://schemas.openxmlformats.org/drawingml/2006/main">
            <a:off x="609600" y="56388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Findings</a:t>
            </a:r>
          </a:p>
        </p:txBody>
      </p:sp>
      <p:sp>
        <p:nvSpPr>
          <p:cNvPr id="16" name="">
            <a:extLst xmlns:a="http://schemas.openxmlformats.org/drawingml/2006/main">
              <a:ext uri="{FF2B5EF4-FFF2-40B4-BE49-F238E27FC236}">
                <a16:creationId xmlns:a16="http://schemas.microsoft.com/office/drawing/2014/main" id="{FED407E6-7EDC-441B-A145-FD330EA98AEC}"/>
              </a:ext>
            </a:extLst>
          </p:cNvPr>
          <p:cNvSpPr>
            <a:spLocks xmlns:a="http://schemas.openxmlformats.org/drawingml/2006/main" noGrp="1"/>
          </p:cNvSpPr>
          <p:nvPr/>
        </p:nvSpPr>
        <p:spPr>
          <a:xfrm xmlns:a="http://schemas.openxmlformats.org/drawingml/2006/main">
            <a:off x="2952750" y="563880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F₀.₅ stayed zero in both folds. In 2002, mean false events rose from 53 to 128.7.</a:t>
            </a:r>
          </a:p>
        </p:txBody>
      </p:sp>
    </p:spTree>
    <p:extLst>
      <p:ext uri="{BB962C8B-B14F-4D97-AF65-F5344CB8AC3E}">
        <p14:creationId xmlns:p14="http://schemas.microsoft.com/office/powerpoint/2010/main" val="1293071167"/>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9A7403-B7BD-47C5-B941-5A5CA39DB44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Calibration did not represent later events</a:t>
            </a:r>
          </a:p>
        </p:txBody>
      </p:sp>
      <p:sp>
        <p:nvSpPr>
          <p:cNvPr id="2" name="">
            <a:extLst xmlns:a="http://schemas.openxmlformats.org/drawingml/2006/main">
              <a:ext uri="{FF2B5EF4-FFF2-40B4-BE49-F238E27FC236}">
                <a16:creationId xmlns:a16="http://schemas.microsoft.com/office/drawing/2014/main" id="{BCA950B2-79DF-45FD-90A5-F706A99589E5}"/>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Event-by-event audit of the joint and channel-isolated models</a:t>
            </a:r>
          </a:p>
        </p:txBody>
      </p:sp>
      <p:sp>
        <p:nvSpPr>
          <p:cNvPr id="3" name="">
            <a:extLst xmlns:a="http://schemas.openxmlformats.org/drawingml/2006/main">
              <a:ext uri="{FF2B5EF4-FFF2-40B4-BE49-F238E27FC236}">
                <a16:creationId xmlns:a16="http://schemas.microsoft.com/office/drawing/2014/main" id="{FDFDE92F-6319-45CF-82D0-E923C90C15DB}"/>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8</a:t>
            </a:r>
          </a:p>
        </p:txBody>
      </p:sp>
      <p:sp>
        <p:nvSpPr>
          <p:cNvPr id="4" name="">
            <a:extLst xmlns:a="http://schemas.openxmlformats.org/drawingml/2006/main">
              <a:ext uri="{FF2B5EF4-FFF2-40B4-BE49-F238E27FC236}">
                <a16:creationId xmlns:a16="http://schemas.microsoft.com/office/drawing/2014/main" id="{FC6A25B6-708A-4C13-81F9-EDF8A25B8EF3}"/>
              </a:ext>
            </a:extLst>
          </p:cNvPr>
          <p:cNvSpPr>
            <a:spLocks xmlns:a="http://schemas.openxmlformats.org/drawingml/2006/main" noGrp="1"/>
          </p:cNvSpPr>
          <p:nvPr/>
        </p:nvSpPr>
        <p:spPr>
          <a:xfrm xmlns:a="http://schemas.openxmlformats.org/drawingml/2006/main">
            <a:off x="609600" y="19431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The selected rules detected a narrow subset</a:t>
            </a:r>
          </a:p>
        </p:txBody>
      </p:sp>
      <p:sp>
        <p:nvSpPr>
          <p:cNvPr id="5" name="">
            <a:extLst xmlns:a="http://schemas.openxmlformats.org/drawingml/2006/main">
              <a:ext uri="{FF2B5EF4-FFF2-40B4-BE49-F238E27FC236}">
                <a16:creationId xmlns:a16="http://schemas.microsoft.com/office/drawing/2014/main" id="{BAD48BBD-49C6-4E2C-A70B-37FDF1A27EBC}"/>
              </a:ext>
            </a:extLst>
          </p:cNvPr>
          <p:cNvSpPr>
            <a:spLocks xmlns:a="http://schemas.openxmlformats.org/drawingml/2006/main" noGrp="1"/>
          </p:cNvSpPr>
          <p:nvPr/>
        </p:nvSpPr>
        <p:spPr>
          <a:xfrm xmlns:a="http://schemas.openxmlformats.org/drawingml/2006/main">
            <a:off x="609600" y="247650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a:solidFill>
                  <a:srgbClr val="132B3A"/>
                </a:solidFill>
                <a:latin typeface="Abyssinica SIL"/>
                <a:ea typeface="Abyssinica SIL"/>
                <a:cs typeface="Abyssinica SIL"/>
              </a:defRPr>
            </a:defPPr>
          </a:lstStyle>
          <a:p xmlns:a="http://schemas.openxmlformats.org/drawingml/2006/main">
            <a:pPr algn="l">
              <a:buNone/>
              <a:defRPr sz="2400" b="0">
                <a:solidFill>
                  <a:srgbClr val="132B3A"/>
                </a:solidFill>
                <a:latin typeface="Abyssinica SIL"/>
                <a:ea typeface="Abyssinica SIL"/>
                <a:cs typeface="Abyssinica SIL"/>
              </a:defRPr>
            </a:pPr>
            <a:r>
              <a:rPr sz="2400" b="0">
                <a:solidFill>
                  <a:srgbClr val="132B3A"/>
                </a:solidFill>
                <a:latin typeface="Abyssinica SIL"/>
                <a:ea typeface="Abyssinica SIL"/>
                <a:cs typeface="Abyssinica SIL"/>
              </a:rPr>
              <a:t>Both models detected the same two of four local calibration events per fold. Later event scores could be much smaller.</a:t>
            </a:r>
          </a:p>
        </p:txBody>
      </p:sp>
      <p:sp>
        <p:nvSpPr>
          <p:cNvPr id="6" name="">
            <a:extLst xmlns:a="http://schemas.openxmlformats.org/drawingml/2006/main">
              <a:ext uri="{FF2B5EF4-FFF2-40B4-BE49-F238E27FC236}">
                <a16:creationId xmlns:a16="http://schemas.microsoft.com/office/drawing/2014/main" id="{2A2F2D6E-A1FE-4948-BB36-92120ECD8972}"/>
              </a:ext>
            </a:extLst>
          </p:cNvPr>
          <p:cNvSpPr>
            <a:spLocks xmlns:a="http://schemas.openxmlformats.org/drawingml/2006/main" noGrp="1"/>
          </p:cNvSpPr>
          <p:nvPr/>
        </p:nvSpPr>
        <p:spPr>
          <a:xfrm xmlns:a="http://schemas.openxmlformats.org/drawingml/2006/main">
            <a:off x="609600" y="37433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Normal scores could exceed anomaly scores</a:t>
            </a:r>
          </a:p>
        </p:txBody>
      </p:sp>
      <p:sp>
        <p:nvSpPr>
          <p:cNvPr id="7" name="">
            <a:extLst xmlns:a="http://schemas.openxmlformats.org/drawingml/2006/main">
              <a:ext uri="{FF2B5EF4-FFF2-40B4-BE49-F238E27FC236}">
                <a16:creationId xmlns:a16="http://schemas.microsoft.com/office/drawing/2014/main" id="{970DA417-5635-4738-B2E9-2D949ACE1AE2}"/>
              </a:ext>
            </a:extLst>
          </p:cNvPr>
          <p:cNvSpPr>
            <a:spLocks xmlns:a="http://schemas.openxmlformats.org/drawingml/2006/main" noGrp="1"/>
          </p:cNvSpPr>
          <p:nvPr/>
        </p:nvSpPr>
        <p:spPr>
          <a:xfrm xmlns:a="http://schemas.openxmlformats.org/drawingml/2006/main">
            <a:off x="609600" y="429577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a:solidFill>
                  <a:srgbClr val="132B3A"/>
                </a:solidFill>
                <a:latin typeface="Abyssinica SIL"/>
                <a:ea typeface="Abyssinica SIL"/>
                <a:cs typeface="Abyssinica SIL"/>
              </a:defRPr>
            </a:defPPr>
          </a:lstStyle>
          <a:p xmlns:a="http://schemas.openxmlformats.org/drawingml/2006/main">
            <a:pPr algn="l">
              <a:buNone/>
              <a:defRPr sz="2325" b="0">
                <a:solidFill>
                  <a:srgbClr val="132B3A"/>
                </a:solidFill>
                <a:latin typeface="Abyssinica SIL"/>
                <a:ea typeface="Abyssinica SIL"/>
                <a:cs typeface="Abyssinica SIL"/>
              </a:defRPr>
            </a:pPr>
            <a:r>
              <a:rPr sz="2325" b="0">
                <a:solidFill>
                  <a:srgbClr val="132B3A"/>
                </a:solidFill>
                <a:latin typeface="Abyssinica SIL"/>
                <a:ea typeface="Abyssinica SIL"/>
                <a:cs typeface="Abyssinica SIL"/>
              </a:rPr>
              <a:t>In 2002, many normal observations scored above missed-event peaks. Simply lowering the threshold would add alarms.</a:t>
            </a:r>
          </a:p>
        </p:txBody>
      </p:sp>
      <p:sp>
        <p:nvSpPr>
          <p:cNvPr id="8" name="">
            <a:extLst xmlns:a="http://schemas.openxmlformats.org/drawingml/2006/main">
              <a:ext uri="{FF2B5EF4-FFF2-40B4-BE49-F238E27FC236}">
                <a16:creationId xmlns:a16="http://schemas.microsoft.com/office/drawing/2014/main" id="{8D9731C9-C64D-4F8E-8E6D-185DF11468CB}"/>
              </a:ext>
            </a:extLst>
          </p:cNvPr>
          <p:cNvSpPr>
            <a:spLocks xmlns:a="http://schemas.openxmlformats.org/drawingml/2006/main" noGrp="1"/>
          </p:cNvSpPr>
          <p:nvPr/>
        </p:nvSpPr>
        <p:spPr>
          <a:xfrm xmlns:a="http://schemas.openxmlformats.org/drawingml/2006/main">
            <a:off x="609600" y="58769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Missed local validation events were not clipped on their annotated channels.</a:t>
            </a:r>
          </a:p>
        </p:txBody>
      </p:sp>
    </p:spTree>
    <p:extLst>
      <p:ext uri="{BB962C8B-B14F-4D97-AF65-F5344CB8AC3E}">
        <p14:creationId xmlns:p14="http://schemas.microsoft.com/office/powerpoint/2010/main" val="50563972"/>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39C1312-4519-418F-B3D9-BFB054B1025E}"/>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Two alternative signals were tested</a:t>
            </a:r>
          </a:p>
        </p:txBody>
      </p:sp>
      <p:sp>
        <p:nvSpPr>
          <p:cNvPr id="2" name="">
            <a:extLst xmlns:a="http://schemas.openxmlformats.org/drawingml/2006/main">
              <a:ext uri="{FF2B5EF4-FFF2-40B4-BE49-F238E27FC236}">
                <a16:creationId xmlns:a16="http://schemas.microsoft.com/office/drawing/2014/main" id="{0D49B43B-521C-4FCB-8C46-8800225A65DA}"/>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9</a:t>
            </a:r>
          </a:p>
        </p:txBody>
      </p:sp>
      <p:sp>
        <p:nvSpPr>
          <p:cNvPr id="3" name="">
            <a:extLst xmlns:a="http://schemas.openxmlformats.org/drawingml/2006/main">
              <a:ext uri="{FF2B5EF4-FFF2-40B4-BE49-F238E27FC236}">
                <a16:creationId xmlns:a16="http://schemas.microsoft.com/office/drawing/2014/main" id="{A6E43B99-1FAD-4FAA-B37C-E82F960D2AFA}"/>
              </a:ext>
            </a:extLst>
          </p:cNvPr>
          <p:cNvSpPr>
            <a:spLocks xmlns:a="http://schemas.openxmlformats.org/drawingml/2006/main" noGrp="1"/>
          </p:cNvSpPr>
          <p:nvPr/>
        </p:nvSpPr>
        <p:spPr>
          <a:xfrm xmlns:a="http://schemas.openxmlformats.org/drawingml/2006/main">
            <a:off x="609600" y="136207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1">
                <a:solidFill>
                  <a:srgbClr val="087E8B"/>
                </a:solidFill>
                <a:latin typeface="Abyssinica SIL"/>
                <a:ea typeface="Abyssinica SIL"/>
                <a:cs typeface="Abyssinica SIL"/>
              </a:defRPr>
            </a:defPPr>
          </a:lstStyle>
          <a:p xmlns:a="http://schemas.openxmlformats.org/drawingml/2006/main">
            <a:pPr algn="l">
              <a:buNone/>
              <a:defRPr sz="2325" b="1">
                <a:solidFill>
                  <a:srgbClr val="087E8B"/>
                </a:solidFill>
                <a:latin typeface="Abyssinica SIL"/>
                <a:ea typeface="Abyssinica SIL"/>
                <a:cs typeface="Abyssinica SIL"/>
              </a:defRPr>
            </a:pPr>
            <a:r>
              <a:rPr sz="2325" b="1">
                <a:solidFill>
                  <a:srgbClr val="087E8B"/>
                </a:solidFill>
                <a:latin typeface="Abyssinica SIL"/>
                <a:ea typeface="Abyssinica SIL"/>
                <a:cs typeface="Abyssinica SIL"/>
              </a:rPr>
              <a:t>Changes in reconstruction scores</a:t>
            </a:r>
          </a:p>
        </p:txBody>
      </p:sp>
      <p:sp>
        <p:nvSpPr>
          <p:cNvPr id="4" name="">
            <a:extLst xmlns:a="http://schemas.openxmlformats.org/drawingml/2006/main">
              <a:ext uri="{FF2B5EF4-FFF2-40B4-BE49-F238E27FC236}">
                <a16:creationId xmlns:a16="http://schemas.microsoft.com/office/drawing/2014/main" id="{6B40AA31-38EF-462D-B520-E931F55F7E0D}"/>
              </a:ext>
            </a:extLst>
          </p:cNvPr>
          <p:cNvSpPr>
            <a:spLocks xmlns:a="http://schemas.openxmlformats.org/drawingml/2006/main" noGrp="1"/>
          </p:cNvSpPr>
          <p:nvPr/>
        </p:nvSpPr>
        <p:spPr>
          <a:xfrm xmlns:a="http://schemas.openxmlformats.org/drawingml/2006/main">
            <a:off x="609600" y="18478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Modification</a:t>
            </a:r>
          </a:p>
        </p:txBody>
      </p:sp>
      <p:sp>
        <p:nvSpPr>
          <p:cNvPr id="5" name="">
            <a:extLst xmlns:a="http://schemas.openxmlformats.org/drawingml/2006/main">
              <a:ext uri="{FF2B5EF4-FFF2-40B4-BE49-F238E27FC236}">
                <a16:creationId xmlns:a16="http://schemas.microsoft.com/office/drawing/2014/main" id="{F3641B58-928C-4EBE-A122-89690377C9A6}"/>
              </a:ext>
            </a:extLst>
          </p:cNvPr>
          <p:cNvSpPr>
            <a:spLocks xmlns:a="http://schemas.openxmlformats.org/drawingml/2006/main" noGrp="1"/>
          </p:cNvSpPr>
          <p:nvPr/>
        </p:nvSpPr>
        <p:spPr>
          <a:xfrm xmlns:a="http://schemas.openxmlformats.org/drawingml/2006/main">
            <a:off x="2952750" y="184785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Scored deviations from recent error levels using a one-day reference.</a:t>
            </a:r>
          </a:p>
        </p:txBody>
      </p:sp>
      <p:sp>
        <p:nvSpPr>
          <p:cNvPr id="6" name="">
            <a:extLst xmlns:a="http://schemas.openxmlformats.org/drawingml/2006/main">
              <a:ext uri="{FF2B5EF4-FFF2-40B4-BE49-F238E27FC236}">
                <a16:creationId xmlns:a16="http://schemas.microsoft.com/office/drawing/2014/main" id="{A0CD1D9F-3548-415D-B6AD-188363C4B939}"/>
              </a:ext>
            </a:extLst>
          </p:cNvPr>
          <p:cNvSpPr>
            <a:spLocks xmlns:a="http://schemas.openxmlformats.org/drawingml/2006/main" noGrp="1"/>
          </p:cNvSpPr>
          <p:nvPr/>
        </p:nvSpPr>
        <p:spPr>
          <a:xfrm xmlns:a="http://schemas.openxmlformats.org/drawingml/2006/main">
            <a:off x="609600" y="24765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Rationale</a:t>
            </a:r>
          </a:p>
        </p:txBody>
      </p:sp>
      <p:sp>
        <p:nvSpPr>
          <p:cNvPr id="7" name="">
            <a:extLst xmlns:a="http://schemas.openxmlformats.org/drawingml/2006/main">
              <a:ext uri="{FF2B5EF4-FFF2-40B4-BE49-F238E27FC236}">
                <a16:creationId xmlns:a16="http://schemas.microsoft.com/office/drawing/2014/main" id="{AE0C49AA-00B0-47E7-A3C9-AEC6AE23B918}"/>
              </a:ext>
            </a:extLst>
          </p:cNvPr>
          <p:cNvSpPr>
            <a:spLocks xmlns:a="http://schemas.openxmlformats.org/drawingml/2006/main" noGrp="1"/>
          </p:cNvSpPr>
          <p:nvPr/>
        </p:nvSpPr>
        <p:spPr>
          <a:xfrm xmlns:a="http://schemas.openxmlformats.org/drawingml/2006/main">
            <a:off x="2952750" y="247650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Capture unusual rises or falls, rather than only high error.</a:t>
            </a:r>
          </a:p>
        </p:txBody>
      </p:sp>
      <p:sp>
        <p:nvSpPr>
          <p:cNvPr id="8" name="">
            <a:extLst xmlns:a="http://schemas.openxmlformats.org/drawingml/2006/main">
              <a:ext uri="{FF2B5EF4-FFF2-40B4-BE49-F238E27FC236}">
                <a16:creationId xmlns:a16="http://schemas.microsoft.com/office/drawing/2014/main" id="{2326312A-2D89-48FE-83E5-1F59D76033AB}"/>
              </a:ext>
            </a:extLst>
          </p:cNvPr>
          <p:cNvSpPr>
            <a:spLocks xmlns:a="http://schemas.openxmlformats.org/drawingml/2006/main" noGrp="1"/>
          </p:cNvSpPr>
          <p:nvPr/>
        </p:nvSpPr>
        <p:spPr>
          <a:xfrm xmlns:a="http://schemas.openxmlformats.org/drawingml/2006/main">
            <a:off x="609600" y="31051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Findings</a:t>
            </a:r>
          </a:p>
        </p:txBody>
      </p:sp>
      <p:sp>
        <p:nvSpPr>
          <p:cNvPr id="9" name="">
            <a:extLst xmlns:a="http://schemas.openxmlformats.org/drawingml/2006/main">
              <a:ext uri="{FF2B5EF4-FFF2-40B4-BE49-F238E27FC236}">
                <a16:creationId xmlns:a16="http://schemas.microsoft.com/office/drawing/2014/main" id="{273F4711-A68E-4C88-AF6F-6B721A408D33}"/>
              </a:ext>
            </a:extLst>
          </p:cNvPr>
          <p:cNvSpPr>
            <a:spLocks xmlns:a="http://schemas.openxmlformats.org/drawingml/2006/main" noGrp="1"/>
          </p:cNvSpPr>
          <p:nvPr/>
        </p:nvSpPr>
        <p:spPr>
          <a:xfrm xmlns:a="http://schemas.openxmlformats.org/drawingml/2006/main">
            <a:off x="2952750" y="310515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False alarms disappeared, but only one seed detected one 2002 event; all missed 2001.</a:t>
            </a:r>
          </a:p>
        </p:txBody>
      </p:sp>
      <p:sp>
        <p:nvSpPr>
          <p:cNvPr id="10" name="">
            <a:extLst xmlns:a="http://schemas.openxmlformats.org/drawingml/2006/main">
              <a:ext uri="{FF2B5EF4-FFF2-40B4-BE49-F238E27FC236}">
                <a16:creationId xmlns:a16="http://schemas.microsoft.com/office/drawing/2014/main" id="{95701ED5-785C-4FDE-AE05-236E3A2619D7}"/>
              </a:ext>
            </a:extLst>
          </p:cNvPr>
          <p:cNvSpPr>
            <a:spLocks xmlns:a="http://schemas.openxmlformats.org/drawingml/2006/main" noGrp="1"/>
          </p:cNvSpPr>
          <p:nvPr/>
        </p:nvSpPr>
        <p:spPr>
          <a:xfrm xmlns:a="http://schemas.openxmlformats.org/drawingml/2006/main">
            <a:off x="609600" y="389572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1">
                <a:solidFill>
                  <a:srgbClr val="087E8B"/>
                </a:solidFill>
                <a:latin typeface="Abyssinica SIL"/>
                <a:ea typeface="Abyssinica SIL"/>
                <a:cs typeface="Abyssinica SIL"/>
              </a:defRPr>
            </a:defPPr>
          </a:lstStyle>
          <a:p xmlns:a="http://schemas.openxmlformats.org/drawingml/2006/main">
            <a:pPr algn="l">
              <a:buNone/>
              <a:defRPr sz="2325" b="1">
                <a:solidFill>
                  <a:srgbClr val="087E8B"/>
                </a:solidFill>
                <a:latin typeface="Abyssinica SIL"/>
                <a:ea typeface="Abyssinica SIL"/>
                <a:cs typeface="Abyssinica SIL"/>
              </a:defRPr>
            </a:pPr>
            <a:r>
              <a:rPr sz="2325" b="1">
                <a:solidFill>
                  <a:srgbClr val="087E8B"/>
                </a:solidFill>
                <a:latin typeface="Abyssinica SIL"/>
                <a:ea typeface="Abyssinica SIL"/>
                <a:cs typeface="Abyssinica SIL"/>
              </a:rPr>
              <a:t>Direct telemetry reference</a:t>
            </a:r>
          </a:p>
        </p:txBody>
      </p:sp>
      <p:sp>
        <p:nvSpPr>
          <p:cNvPr id="11" name="">
            <a:extLst xmlns:a="http://schemas.openxmlformats.org/drawingml/2006/main">
              <a:ext uri="{FF2B5EF4-FFF2-40B4-BE49-F238E27FC236}">
                <a16:creationId xmlns:a16="http://schemas.microsoft.com/office/drawing/2014/main" id="{212CCBFA-A5FE-4656-A30B-234485D114B1}"/>
              </a:ext>
            </a:extLst>
          </p:cNvPr>
          <p:cNvSpPr>
            <a:spLocks xmlns:a="http://schemas.openxmlformats.org/drawingml/2006/main" noGrp="1"/>
          </p:cNvSpPr>
          <p:nvPr/>
        </p:nvSpPr>
        <p:spPr>
          <a:xfrm xmlns:a="http://schemas.openxmlformats.org/drawingml/2006/main">
            <a:off x="609600" y="43815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Modification</a:t>
            </a:r>
          </a:p>
        </p:txBody>
      </p:sp>
      <p:sp>
        <p:nvSpPr>
          <p:cNvPr id="12" name="">
            <a:extLst xmlns:a="http://schemas.openxmlformats.org/drawingml/2006/main">
              <a:ext uri="{FF2B5EF4-FFF2-40B4-BE49-F238E27FC236}">
                <a16:creationId xmlns:a16="http://schemas.microsoft.com/office/drawing/2014/main" id="{B4535446-B3A0-413F-90BF-BCBA4193593B}"/>
              </a:ext>
            </a:extLst>
          </p:cNvPr>
          <p:cNvSpPr>
            <a:spLocks xmlns:a="http://schemas.openxmlformats.org/drawingml/2006/main" noGrp="1"/>
          </p:cNvSpPr>
          <p:nvPr/>
        </p:nvSpPr>
        <p:spPr>
          <a:xfrm xmlns:a="http://schemas.openxmlformats.org/drawingml/2006/main">
            <a:off x="2952750" y="438150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Measured telemetry deviations from recent levels without a neural model.</a:t>
            </a:r>
          </a:p>
        </p:txBody>
      </p:sp>
      <p:sp>
        <p:nvSpPr>
          <p:cNvPr id="13" name="">
            <a:extLst xmlns:a="http://schemas.openxmlformats.org/drawingml/2006/main">
              <a:ext uri="{FF2B5EF4-FFF2-40B4-BE49-F238E27FC236}">
                <a16:creationId xmlns:a16="http://schemas.microsoft.com/office/drawing/2014/main" id="{2CEC99DC-B5C8-4572-9F47-05735841317D}"/>
              </a:ext>
            </a:extLst>
          </p:cNvPr>
          <p:cNvSpPr>
            <a:spLocks xmlns:a="http://schemas.openxmlformats.org/drawingml/2006/main" noGrp="1"/>
          </p:cNvSpPr>
          <p:nvPr/>
        </p:nvSpPr>
        <p:spPr>
          <a:xfrm xmlns:a="http://schemas.openxmlformats.org/drawingml/2006/main">
            <a:off x="609600" y="50101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Rationale</a:t>
            </a:r>
          </a:p>
        </p:txBody>
      </p:sp>
      <p:sp>
        <p:nvSpPr>
          <p:cNvPr id="14" name="">
            <a:extLst xmlns:a="http://schemas.openxmlformats.org/drawingml/2006/main">
              <a:ext uri="{FF2B5EF4-FFF2-40B4-BE49-F238E27FC236}">
                <a16:creationId xmlns:a16="http://schemas.microsoft.com/office/drawing/2014/main" id="{BA9DDC5B-4451-4F98-9C33-1B813A841F7A}"/>
              </a:ext>
            </a:extLst>
          </p:cNvPr>
          <p:cNvSpPr>
            <a:spLocks xmlns:a="http://schemas.openxmlformats.org/drawingml/2006/main" noGrp="1"/>
          </p:cNvSpPr>
          <p:nvPr/>
        </p:nvSpPr>
        <p:spPr>
          <a:xfrm xmlns:a="http://schemas.openxmlformats.org/drawingml/2006/main">
            <a:off x="2952750" y="5010150"/>
            <a:ext cx="8477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Check whether failure was specific to reconstruction scores.</a:t>
            </a:r>
          </a:p>
        </p:txBody>
      </p:sp>
      <p:sp>
        <p:nvSpPr>
          <p:cNvPr id="15" name="">
            <a:extLst xmlns:a="http://schemas.openxmlformats.org/drawingml/2006/main">
              <a:ext uri="{FF2B5EF4-FFF2-40B4-BE49-F238E27FC236}">
                <a16:creationId xmlns:a16="http://schemas.microsoft.com/office/drawing/2014/main" id="{2E6E6FD6-D4D9-45E5-8C5F-854784A1075F}"/>
              </a:ext>
            </a:extLst>
          </p:cNvPr>
          <p:cNvSpPr>
            <a:spLocks xmlns:a="http://schemas.openxmlformats.org/drawingml/2006/main" noGrp="1"/>
          </p:cNvSpPr>
          <p:nvPr/>
        </p:nvSpPr>
        <p:spPr>
          <a:xfrm xmlns:a="http://schemas.openxmlformats.org/drawingml/2006/main">
            <a:off x="609600" y="563880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1">
                <a:solidFill>
                  <a:srgbClr val="132B3A"/>
                </a:solidFill>
                <a:latin typeface="Abyssinica SIL"/>
                <a:ea typeface="Abyssinica SIL"/>
                <a:cs typeface="Abyssinica SIL"/>
              </a:defRPr>
            </a:defPPr>
          </a:lstStyle>
          <a:p xmlns:a="http://schemas.openxmlformats.org/drawingml/2006/main">
            <a:pPr algn="l">
              <a:buNone/>
              <a:defRPr sz="1800" b="1">
                <a:solidFill>
                  <a:srgbClr val="132B3A"/>
                </a:solidFill>
                <a:latin typeface="Abyssinica SIL"/>
                <a:ea typeface="Abyssinica SIL"/>
                <a:cs typeface="Abyssinica SIL"/>
              </a:defRPr>
            </a:pPr>
            <a:r>
              <a:rPr sz="1800" b="1">
                <a:solidFill>
                  <a:srgbClr val="132B3A"/>
                </a:solidFill>
                <a:latin typeface="Abyssinica SIL"/>
                <a:ea typeface="Abyssinica SIL"/>
                <a:cs typeface="Abyssinica SIL"/>
              </a:rPr>
              <a:t>Findings</a:t>
            </a:r>
          </a:p>
        </p:txBody>
      </p:sp>
      <p:sp>
        <p:nvSpPr>
          <p:cNvPr id="16" name="">
            <a:extLst xmlns:a="http://schemas.openxmlformats.org/drawingml/2006/main">
              <a:ext uri="{FF2B5EF4-FFF2-40B4-BE49-F238E27FC236}">
                <a16:creationId xmlns:a16="http://schemas.microsoft.com/office/drawing/2014/main" id="{FED407E6-7EDC-441B-A145-FD330EA98AEC}"/>
              </a:ext>
            </a:extLst>
          </p:cNvPr>
          <p:cNvSpPr>
            <a:spLocks xmlns:a="http://schemas.openxmlformats.org/drawingml/2006/main" noGrp="1"/>
          </p:cNvSpPr>
          <p:nvPr/>
        </p:nvSpPr>
        <p:spPr>
          <a:xfrm xmlns:a="http://schemas.openxmlformats.org/drawingml/2006/main">
            <a:off x="2952750" y="5638800"/>
            <a:ext cx="847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132B3A"/>
                </a:solidFill>
                <a:latin typeface="Abyssinica SIL"/>
                <a:ea typeface="Abyssinica SIL"/>
                <a:cs typeface="Abyssinica SIL"/>
              </a:defRPr>
            </a:defPPr>
          </a:lstStyle>
          <a:p xmlns:a="http://schemas.openxmlformats.org/drawingml/2006/main">
            <a:pPr algn="l">
              <a:buNone/>
              <a:defRPr sz="1875" b="0">
                <a:solidFill>
                  <a:srgbClr val="132B3A"/>
                </a:solidFill>
                <a:latin typeface="Abyssinica SIL"/>
                <a:ea typeface="Abyssinica SIL"/>
                <a:cs typeface="Abyssinica SIL"/>
              </a:defRPr>
            </a:pPr>
            <a:r>
              <a:rPr sz="1875" b="0">
                <a:solidFill>
                  <a:srgbClr val="132B3A"/>
                </a:solidFill>
                <a:latin typeface="Abyssinica SIL"/>
                <a:ea typeface="Abyssinica SIL"/>
                <a:cs typeface="Abyssinica SIL"/>
              </a:rPr>
              <a:t>No validation alarms in either fold. Every event was missed.</a:t>
            </a:r>
          </a:p>
        </p:txBody>
      </p:sp>
    </p:spTree>
    <p:extLst>
      <p:ext uri="{BB962C8B-B14F-4D97-AF65-F5344CB8AC3E}">
        <p14:creationId xmlns:p14="http://schemas.microsoft.com/office/powerpoint/2010/main" val="1293071167"/>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C443DD-EFD3-49B8-A3D2-958B487F5D01}"/>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The alarm cap was not a general explanation</a:t>
            </a:r>
          </a:p>
        </p:txBody>
      </p:sp>
      <p:sp>
        <p:nvSpPr>
          <p:cNvPr id="2" name="">
            <a:extLst xmlns:a="http://schemas.openxmlformats.org/drawingml/2006/main">
              <a:ext uri="{FF2B5EF4-FFF2-40B4-BE49-F238E27FC236}">
                <a16:creationId xmlns:a16="http://schemas.microsoft.com/office/drawing/2014/main" id="{D3FB042B-4C71-42BE-B875-FDDC0155894E}"/>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Audit of 20 saved calibration grids; no validation rules were changed</a:t>
            </a:r>
          </a:p>
        </p:txBody>
      </p:sp>
      <p:sp>
        <p:nvSpPr>
          <p:cNvPr id="3" name="">
            <a:extLst xmlns:a="http://schemas.openxmlformats.org/drawingml/2006/main">
              <a:ext uri="{FF2B5EF4-FFF2-40B4-BE49-F238E27FC236}">
                <a16:creationId xmlns:a16="http://schemas.microsoft.com/office/drawing/2014/main" id="{A65AB046-80E8-46EC-99B7-5E31E220AF70}"/>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10</a:t>
            </a:r>
          </a:p>
        </p:txBody>
      </p:sp>
      <p:graphicFrame>
        <p:nvGraphicFramePr>
          <p:cNvPr id="11" name="">
            <a:extLst xmlns:a="http://schemas.openxmlformats.org/drawingml/2006/main">
              <a:ext uri="{FF2B5EF4-FFF2-40B4-BE49-F238E27FC236}">
                <a16:creationId xmlns:a16="http://schemas.microsoft.com/office/drawing/2014/main" id="{EE1E35EE-3EE3-4B3B-B7D1-4867422D23DE}"/>
              </a:ext>
            </a:extLst>
          </p:cNvPr>
          <p:cNvGraphicFramePr/>
          <p:nvPr/>
        </p:nvGraphicFramePr>
        <p:xfrm>
          <a:off xmlns:a="http://schemas.openxmlformats.org/drawingml/2006/main" x="609600" y="1914525"/>
          <a:ext xmlns:a="http://schemas.openxmlformats.org/drawingml/2006/main" cx="10972800" cy="2047875"/>
        </p:xfrm>
        <a:graphic xmlns:a="http://schemas.openxmlformats.org/drawingml/2006/main">
          <a:graphicData uri="http://schemas.openxmlformats.org/drawingml/2006/table">
            <a:tbl>
              <a:tblPr/>
              <a:tblGrid>
                <a:gridCol w="3143250"/>
                <a:gridCol w="3914775"/>
                <a:gridCol w="3914775"/>
              </a:tblGrid>
              <a:tr h="682625">
                <a:tc>
                  <a:txBody>
                    <a:bodyPr/>
                    <a:lstStyle/>
                    <a:p>
                      <a:r>
                        <a:rPr sz="1875" b="1">
                          <a:solidFill>
                            <a:srgbClr val="FFFFFF"/>
                          </a:solidFill>
                          <a:latin typeface="Abyssinica SIL"/>
                          <a:ea typeface="Abyssinica SIL"/>
                          <a:cs typeface="Abyssinica SIL"/>
                        </a:rPr>
                        <a:t>Calibration year</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Better without cap</a:t>
                      </a:r>
                    </a:p>
                  </a:txBody>
                  <a:tcPr marL="91440" marR="91440" marT="45720" marB="45720">
                    <a:solidFill>
                      <a:srgbClr val="132B3A"/>
                    </a:solidFill>
                  </a:tcPr>
                </a:tc>
                <a:tc>
                  <a:txBody>
                    <a:bodyPr/>
                    <a:lstStyle/>
                    <a:p>
                      <a:r>
                        <a:rPr sz="1875" b="1">
                          <a:solidFill>
                            <a:srgbClr val="FFFFFF"/>
                          </a:solidFill>
                          <a:latin typeface="Abyssinica SIL"/>
                          <a:ea typeface="Abyssinica SIL"/>
                          <a:cs typeface="Abyssinica SIL"/>
                        </a:rPr>
                        <a:t>Cases inspected</a:t>
                      </a:r>
                    </a:p>
                  </a:txBody>
                  <a:tcPr marL="91440" marR="91440" marT="45720" marB="45720">
                    <a:solidFill>
                      <a:srgbClr val="132B3A"/>
                    </a:solidFill>
                  </a:tcPr>
                </a:tc>
              </a:tr>
              <a:tr h="682625">
                <a:tc>
                  <a:txBody>
                    <a:bodyPr/>
                    <a:lstStyle/>
                    <a:p>
                      <a:r>
                        <a:rPr sz="1875" b="0">
                          <a:solidFill>
                            <a:srgbClr val="132B3A"/>
                          </a:solidFill>
                          <a:latin typeface="Abyssinica SIL"/>
                          <a:ea typeface="Abyssinica SIL"/>
                          <a:cs typeface="Abyssinica SIL"/>
                        </a:rPr>
                        <a:t>2001</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6 cases</a:t>
                      </a:r>
                    </a:p>
                  </a:txBody>
                  <a:tcPr marL="91440" marR="91440" marT="45720" marB="45720">
                    <a:solidFill>
                      <a:srgbClr val="FFFFFF"/>
                    </a:solidFill>
                  </a:tcPr>
                </a:tc>
                <a:tc>
                  <a:txBody>
                    <a:bodyPr/>
                    <a:lstStyle/>
                    <a:p>
                      <a:r>
                        <a:rPr sz="1875" b="0">
                          <a:solidFill>
                            <a:srgbClr val="132B3A"/>
                          </a:solidFill>
                          <a:latin typeface="Abyssinica SIL"/>
                          <a:ea typeface="Abyssinica SIL"/>
                          <a:cs typeface="Abyssinica SIL"/>
                        </a:rPr>
                        <a:t>10</a:t>
                      </a:r>
                    </a:p>
                  </a:txBody>
                  <a:tcPr marL="91440" marR="91440" marT="45720" marB="45720">
                    <a:solidFill>
                      <a:srgbClr val="FFFFFF"/>
                    </a:solidFill>
                  </a:tcPr>
                </a:tc>
              </a:tr>
              <a:tr h="682625">
                <a:tc>
                  <a:txBody>
                    <a:bodyPr/>
                    <a:lstStyle/>
                    <a:p>
                      <a:r>
                        <a:rPr sz="1875" b="0">
                          <a:solidFill>
                            <a:srgbClr val="132B3A"/>
                          </a:solidFill>
                          <a:latin typeface="Abyssinica SIL"/>
                          <a:ea typeface="Abyssinica SIL"/>
                          <a:cs typeface="Abyssinica SIL"/>
                        </a:rPr>
                        <a:t>2002</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0 cases</a:t>
                      </a:r>
                    </a:p>
                  </a:txBody>
                  <a:tcPr marL="91440" marR="91440" marT="45720" marB="45720">
                    <a:solidFill>
                      <a:srgbClr val="EDF3F5"/>
                    </a:solidFill>
                  </a:tcPr>
                </a:tc>
                <a:tc>
                  <a:txBody>
                    <a:bodyPr/>
                    <a:lstStyle/>
                    <a:p>
                      <a:r>
                        <a:rPr sz="1875" b="0">
                          <a:solidFill>
                            <a:srgbClr val="132B3A"/>
                          </a:solidFill>
                          <a:latin typeface="Abyssinica SIL"/>
                          <a:ea typeface="Abyssinica SIL"/>
                          <a:cs typeface="Abyssinica SIL"/>
                        </a:rPr>
                        <a:t>10</a:t>
                      </a:r>
                    </a:p>
                  </a:txBody>
                  <a:tcPr marL="91440" marR="91440" marT="45720" marB="45720">
                    <a:solidFill>
                      <a:srgbClr val="EDF3F5"/>
                    </a:solidFill>
                  </a:tcPr>
                </a:tc>
              </a:tr>
            </a:tbl>
          </a:graphicData>
        </a:graphic>
      </p:graphicFrame>
      <p:sp>
        <p:nvSpPr>
          <p:cNvPr id="5" name="">
            <a:extLst xmlns:a="http://schemas.openxmlformats.org/drawingml/2006/main">
              <a:ext uri="{FF2B5EF4-FFF2-40B4-BE49-F238E27FC236}">
                <a16:creationId xmlns:a16="http://schemas.microsoft.com/office/drawing/2014/main" id="{E10DC089-DEA2-4247-BA10-59C08BE3B8FC}"/>
              </a:ext>
            </a:extLst>
          </p:cNvPr>
          <p:cNvSpPr>
            <a:spLocks xmlns:a="http://schemas.openxmlformats.org/drawingml/2006/main" noGrp="1"/>
          </p:cNvSpPr>
          <p:nvPr/>
        </p:nvSpPr>
        <p:spPr>
          <a:xfrm xmlns:a="http://schemas.openxmlformats.org/drawingml/2006/main">
            <a:off x="609600" y="42672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1">
                <a:solidFill>
                  <a:srgbClr val="087E8B"/>
                </a:solidFill>
                <a:latin typeface="Abyssinica SIL"/>
                <a:ea typeface="Abyssinica SIL"/>
                <a:cs typeface="Abyssinica SIL"/>
              </a:defRPr>
            </a:defPPr>
          </a:lstStyle>
          <a:p xmlns:a="http://schemas.openxmlformats.org/drawingml/2006/main">
            <a:pPr algn="l">
              <a:buNone/>
              <a:defRPr sz="2325" b="1">
                <a:solidFill>
                  <a:srgbClr val="087E8B"/>
                </a:solidFill>
                <a:latin typeface="Abyssinica SIL"/>
                <a:ea typeface="Abyssinica SIL"/>
                <a:cs typeface="Abyssinica SIL"/>
              </a:defRPr>
            </a:pPr>
            <a:r>
              <a:rPr sz="2325" b="1">
                <a:solidFill>
                  <a:srgbClr val="087E8B"/>
                </a:solidFill>
                <a:latin typeface="Abyssinica SIL"/>
                <a:ea typeface="Abyssinica SIL"/>
                <a:cs typeface="Abyssinica SIL"/>
              </a:rPr>
              <a:t>Removing the cap helped only some cases</a:t>
            </a:r>
          </a:p>
        </p:txBody>
      </p:sp>
      <p:sp>
        <p:nvSpPr>
          <p:cNvPr id="6" name="">
            <a:extLst xmlns:a="http://schemas.openxmlformats.org/drawingml/2006/main">
              <a:ext uri="{FF2B5EF4-FFF2-40B4-BE49-F238E27FC236}">
                <a16:creationId xmlns:a16="http://schemas.microsoft.com/office/drawing/2014/main" id="{6B6ABAC6-5424-4870-AA7E-DB96174144E5}"/>
              </a:ext>
            </a:extLst>
          </p:cNvPr>
          <p:cNvSpPr>
            <a:spLocks xmlns:a="http://schemas.openxmlformats.org/drawingml/2006/main" noGrp="1"/>
          </p:cNvSpPr>
          <p:nvPr/>
        </p:nvSpPr>
        <p:spPr>
          <a:xfrm xmlns:a="http://schemas.openxmlformats.org/drawingml/2006/main">
            <a:off x="609600" y="47815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75">
                <a:solidFill>
                  <a:srgbClr val="132B3A"/>
                </a:solidFill>
                <a:latin typeface="Abyssinica SIL"/>
                <a:ea typeface="Abyssinica SIL"/>
                <a:cs typeface="Abyssinica SIL"/>
              </a:defRPr>
            </a:defPPr>
          </a:lstStyle>
          <a:p xmlns:a="http://schemas.openxmlformats.org/drawingml/2006/main">
            <a:pPr algn="l">
              <a:buNone/>
              <a:defRPr sz="2175" b="0">
                <a:solidFill>
                  <a:srgbClr val="132B3A"/>
                </a:solidFill>
                <a:latin typeface="Abyssinica SIL"/>
                <a:ea typeface="Abyssinica SIL"/>
                <a:cs typeface="Abyssinica SIL"/>
              </a:defRPr>
            </a:pPr>
            <a:r>
              <a:rPr sz="2175" b="0">
                <a:solidFill>
                  <a:srgbClr val="132B3A"/>
                </a:solidFill>
                <a:latin typeface="Abyssinica SIL"/>
                <a:ea typeface="Abyssinica SIL"/>
                <a:cs typeface="Abyssinica SIL"/>
              </a:rPr>
              <a:t>The cap limits all predicted alarm samples to 1% during calibration. It does not guarantee future false-alarm rates.</a:t>
            </a:r>
          </a:p>
        </p:txBody>
      </p:sp>
      <p:sp>
        <p:nvSpPr>
          <p:cNvPr id="7" name="">
            <a:extLst xmlns:a="http://schemas.openxmlformats.org/drawingml/2006/main">
              <a:ext uri="{FF2B5EF4-FFF2-40B4-BE49-F238E27FC236}">
                <a16:creationId xmlns:a16="http://schemas.microsoft.com/office/drawing/2014/main" id="{835DF427-114E-4659-A1ED-AAE218A514EF}"/>
              </a:ext>
            </a:extLst>
          </p:cNvPr>
          <p:cNvSpPr>
            <a:spLocks xmlns:a="http://schemas.openxmlformats.org/drawingml/2006/main" noGrp="1"/>
          </p:cNvSpPr>
          <p:nvPr/>
        </p:nvSpPr>
        <p:spPr>
          <a:xfrm xmlns:a="http://schemas.openxmlformats.org/drawingml/2006/main">
            <a:off x="609600" y="5667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025">
                <a:solidFill>
                  <a:srgbClr val="132B3A"/>
                </a:solidFill>
                <a:latin typeface="Abyssinica SIL"/>
                <a:ea typeface="Abyssinica SIL"/>
                <a:cs typeface="Abyssinica SIL"/>
              </a:defRPr>
            </a:defPPr>
          </a:lstStyle>
          <a:p xmlns:a="http://schemas.openxmlformats.org/drawingml/2006/main">
            <a:pPr algn="l">
              <a:buNone/>
              <a:defRPr sz="2025" b="0">
                <a:solidFill>
                  <a:srgbClr val="132B3A"/>
                </a:solidFill>
                <a:latin typeface="Abyssinica SIL"/>
                <a:ea typeface="Abyssinica SIL"/>
                <a:cs typeface="Abyssinica SIL"/>
              </a:defRPr>
            </a:pPr>
            <a:r>
              <a:rPr sz="2025" b="0">
                <a:solidFill>
                  <a:srgbClr val="132B3A"/>
                </a:solidFill>
                <a:latin typeface="Abyssinica SIL"/>
                <a:ea typeface="Abyssinica SIL"/>
                <a:cs typeface="Abyssinica SIL"/>
              </a:rPr>
              <a:t>Relaxing the cap alone does not resolve calibration transfer.</a:t>
            </a:r>
          </a:p>
        </p:txBody>
      </p:sp>
    </p:spTree>
    <p:extLst>
      <p:ext uri="{BB962C8B-B14F-4D97-AF65-F5344CB8AC3E}">
        <p14:creationId xmlns:p14="http://schemas.microsoft.com/office/powerpoint/2010/main" val="697782398"/>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9A7403-B7BD-47C5-B941-5A5CA39DB44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Research contributions since 30 September</a:t>
            </a:r>
          </a:p>
        </p:txBody>
      </p:sp>
      <p:sp>
        <p:nvSpPr>
          <p:cNvPr id="2" name="">
            <a:extLst xmlns:a="http://schemas.openxmlformats.org/drawingml/2006/main">
              <a:ext uri="{FF2B5EF4-FFF2-40B4-BE49-F238E27FC236}">
                <a16:creationId xmlns:a16="http://schemas.microsoft.com/office/drawing/2014/main" id="{BCA950B2-79DF-45FD-90A5-F706A99589E5}"/>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Replicated comparisons, diagnostic evidence and generalization limitations</a:t>
            </a:r>
          </a:p>
        </p:txBody>
      </p:sp>
      <p:sp>
        <p:nvSpPr>
          <p:cNvPr id="3" name="">
            <a:extLst xmlns:a="http://schemas.openxmlformats.org/drawingml/2006/main">
              <a:ext uri="{FF2B5EF4-FFF2-40B4-BE49-F238E27FC236}">
                <a16:creationId xmlns:a16="http://schemas.microsoft.com/office/drawing/2014/main" id="{FDFDE92F-6319-45CF-82D0-E923C90C15DB}"/>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11</a:t>
            </a:r>
          </a:p>
        </p:txBody>
      </p:sp>
      <p:sp>
        <p:nvSpPr>
          <p:cNvPr id="4" name="">
            <a:extLst xmlns:a="http://schemas.openxmlformats.org/drawingml/2006/main">
              <a:ext uri="{FF2B5EF4-FFF2-40B4-BE49-F238E27FC236}">
                <a16:creationId xmlns:a16="http://schemas.microsoft.com/office/drawing/2014/main" id="{FC6A25B6-708A-4C13-81F9-EDF8A25B8EF3}"/>
              </a:ext>
            </a:extLst>
          </p:cNvPr>
          <p:cNvSpPr>
            <a:spLocks xmlns:a="http://schemas.openxmlformats.org/drawingml/2006/main" noGrp="1"/>
          </p:cNvSpPr>
          <p:nvPr/>
        </p:nvSpPr>
        <p:spPr>
          <a:xfrm xmlns:a="http://schemas.openxmlformats.org/drawingml/2006/main">
            <a:off x="609600" y="19431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Experimental replication and verification</a:t>
            </a:r>
          </a:p>
        </p:txBody>
      </p:sp>
      <p:sp>
        <p:nvSpPr>
          <p:cNvPr id="5" name="">
            <a:extLst xmlns:a="http://schemas.openxmlformats.org/drawingml/2006/main">
              <a:ext uri="{FF2B5EF4-FFF2-40B4-BE49-F238E27FC236}">
                <a16:creationId xmlns:a16="http://schemas.microsoft.com/office/drawing/2014/main" id="{BAD48BBD-49C6-4E2C-A70B-37FDF1A27EBC}"/>
              </a:ext>
            </a:extLst>
          </p:cNvPr>
          <p:cNvSpPr>
            <a:spLocks xmlns:a="http://schemas.openxmlformats.org/drawingml/2006/main" noGrp="1"/>
          </p:cNvSpPr>
          <p:nvPr/>
        </p:nvSpPr>
        <p:spPr>
          <a:xfrm xmlns:a="http://schemas.openxmlformats.org/drawingml/2006/main">
            <a:off x="609600" y="247650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a:solidFill>
                  <a:srgbClr val="132B3A"/>
                </a:solidFill>
                <a:latin typeface="Abyssinica SIL"/>
                <a:ea typeface="Abyssinica SIL"/>
                <a:cs typeface="Abyssinica SIL"/>
              </a:defRPr>
            </a:defPPr>
          </a:lstStyle>
          <a:p xmlns:a="http://schemas.openxmlformats.org/drawingml/2006/main">
            <a:pPr algn="l">
              <a:buNone/>
              <a:defRPr sz="2400" b="0">
                <a:solidFill>
                  <a:srgbClr val="132B3A"/>
                </a:solidFill>
                <a:latin typeface="Abyssinica SIL"/>
                <a:ea typeface="Abyssinica SIL"/>
                <a:cs typeface="Abyssinica SIL"/>
              </a:defRPr>
            </a:pPr>
            <a:r>
              <a:rPr sz="2400" b="0">
                <a:solidFill>
                  <a:srgbClr val="132B3A"/>
                </a:solidFill>
                <a:latin typeface="Abyssinica SIL"/>
                <a:ea typeface="Abyssinica SIL"/>
                <a:cs typeface="Abyssinica SIL"/>
              </a:rPr>
              <a:t>Completed replication across seeds, evaluated specific hypotheses, and verified saved predictions and metrics.</a:t>
            </a:r>
          </a:p>
        </p:txBody>
      </p:sp>
      <p:sp>
        <p:nvSpPr>
          <p:cNvPr id="6" name="">
            <a:extLst xmlns:a="http://schemas.openxmlformats.org/drawingml/2006/main">
              <a:ext uri="{FF2B5EF4-FFF2-40B4-BE49-F238E27FC236}">
                <a16:creationId xmlns:a16="http://schemas.microsoft.com/office/drawing/2014/main" id="{2A2F2D6E-A1FE-4948-BB36-92120ECD8972}"/>
              </a:ext>
            </a:extLst>
          </p:cNvPr>
          <p:cNvSpPr>
            <a:spLocks xmlns:a="http://schemas.openxmlformats.org/drawingml/2006/main" noGrp="1"/>
          </p:cNvSpPr>
          <p:nvPr/>
        </p:nvSpPr>
        <p:spPr>
          <a:xfrm xmlns:a="http://schemas.openxmlformats.org/drawingml/2006/main">
            <a:off x="609600" y="37433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Unresolved generalization limitation</a:t>
            </a:r>
          </a:p>
        </p:txBody>
      </p:sp>
      <p:sp>
        <p:nvSpPr>
          <p:cNvPr id="7" name="">
            <a:extLst xmlns:a="http://schemas.openxmlformats.org/drawingml/2006/main">
              <a:ext uri="{FF2B5EF4-FFF2-40B4-BE49-F238E27FC236}">
                <a16:creationId xmlns:a16="http://schemas.microsoft.com/office/drawing/2014/main" id="{970DA417-5635-4738-B2E9-2D949ACE1AE2}"/>
              </a:ext>
            </a:extLst>
          </p:cNvPr>
          <p:cNvSpPr>
            <a:spLocks xmlns:a="http://schemas.openxmlformats.org/drawingml/2006/main" noGrp="1"/>
          </p:cNvSpPr>
          <p:nvPr/>
        </p:nvSpPr>
        <p:spPr>
          <a:xfrm xmlns:a="http://schemas.openxmlformats.org/drawingml/2006/main">
            <a:off x="609600" y="429577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a:solidFill>
                  <a:srgbClr val="132B3A"/>
                </a:solidFill>
                <a:latin typeface="Abyssinica SIL"/>
                <a:ea typeface="Abyssinica SIL"/>
                <a:cs typeface="Abyssinica SIL"/>
              </a:defRPr>
            </a:defPPr>
          </a:lstStyle>
          <a:p xmlns:a="http://schemas.openxmlformats.org/drawingml/2006/main">
            <a:pPr algn="l">
              <a:buNone/>
              <a:defRPr sz="2325" b="0">
                <a:solidFill>
                  <a:srgbClr val="132B3A"/>
                </a:solidFill>
                <a:latin typeface="Abyssinica SIL"/>
                <a:ea typeface="Abyssinica SIL"/>
                <a:cs typeface="Abyssinica SIL"/>
              </a:defRPr>
            </a:pPr>
            <a:r>
              <a:rPr sz="2325" b="0">
                <a:solidFill>
                  <a:srgbClr val="132B3A"/>
                </a:solidFill>
                <a:latin typeface="Abyssinica SIL"/>
                <a:ea typeface="Abyssinica SIL"/>
                <a:cs typeface="Abyssinica SIL"/>
              </a:rPr>
              <a:t>Calibration success did not reliably transfer to later events. Better reconstruction and fewer alarms were insufficient.</a:t>
            </a:r>
          </a:p>
        </p:txBody>
      </p:sp>
      <p:sp>
        <p:nvSpPr>
          <p:cNvPr id="8" name="">
            <a:extLst xmlns:a="http://schemas.openxmlformats.org/drawingml/2006/main">
              <a:ext uri="{FF2B5EF4-FFF2-40B4-BE49-F238E27FC236}">
                <a16:creationId xmlns:a16="http://schemas.microsoft.com/office/drawing/2014/main" id="{8D9731C9-C64D-4F8E-8E6D-185DF11468CB}"/>
              </a:ext>
            </a:extLst>
          </p:cNvPr>
          <p:cNvSpPr>
            <a:spLocks xmlns:a="http://schemas.openxmlformats.org/drawingml/2006/main" noGrp="1"/>
          </p:cNvSpPr>
          <p:nvPr/>
        </p:nvSpPr>
        <p:spPr>
          <a:xfrm xmlns:a="http://schemas.openxmlformats.org/drawingml/2006/main">
            <a:off x="609600" y="58769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The full-period baseline remains the reference; no candidate justified promotion.</a:t>
            </a:r>
          </a:p>
        </p:txBody>
      </p:sp>
    </p:spTree>
    <p:extLst>
      <p:ext uri="{BB962C8B-B14F-4D97-AF65-F5344CB8AC3E}">
        <p14:creationId xmlns:p14="http://schemas.microsoft.com/office/powerpoint/2010/main" val="50563972"/>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9A7403-B7BD-47C5-B941-5A5CA39DB447}"/>
              </a:ext>
            </a:extLst>
          </p:cNvPr>
          <p:cNvSpPr>
            <a:spLocks xmlns:a="http://schemas.openxmlformats.org/drawingml/2006/main" noGrp="1"/>
          </p:cNvSpPr>
          <p:nvPr/>
        </p:nvSpPr>
        <p:spPr>
          <a:xfrm xmlns:a="http://schemas.openxmlformats.org/drawingml/2006/main">
            <a:off x="609600" y="3619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132B3A"/>
                </a:solidFill>
                <a:latin typeface="Abyssinica SIL"/>
                <a:ea typeface="Abyssinica SIL"/>
                <a:cs typeface="Abyssinica SIL"/>
              </a:defRPr>
            </a:defPPr>
          </a:lstStyle>
          <a:p xmlns:a="http://schemas.openxmlformats.org/drawingml/2006/main">
            <a:pPr algn="l">
              <a:buNone/>
              <a:defRPr sz="3300" b="1">
                <a:solidFill>
                  <a:srgbClr val="132B3A"/>
                </a:solidFill>
                <a:latin typeface="Abyssinica SIL"/>
                <a:ea typeface="Abyssinica SIL"/>
                <a:cs typeface="Abyssinica SIL"/>
              </a:defRPr>
            </a:pPr>
            <a:r>
              <a:rPr sz="3300" b="1">
                <a:solidFill>
                  <a:srgbClr val="132B3A"/>
                </a:solidFill>
                <a:latin typeface="Abyssinica SIL"/>
                <a:ea typeface="Abyssinica SIL"/>
                <a:cs typeface="Abyssinica SIL"/>
              </a:rPr>
              <a:t>Proposed evaluation protocol</a:t>
            </a:r>
          </a:p>
        </p:txBody>
      </p:sp>
      <p:sp>
        <p:nvSpPr>
          <p:cNvPr id="2" name="">
            <a:extLst xmlns:a="http://schemas.openxmlformats.org/drawingml/2006/main">
              <a:ext uri="{FF2B5EF4-FFF2-40B4-BE49-F238E27FC236}">
                <a16:creationId xmlns:a16="http://schemas.microsoft.com/office/drawing/2014/main" id="{BCA950B2-79DF-45FD-90A5-F706A99589E5}"/>
              </a:ext>
            </a:extLst>
          </p:cNvPr>
          <p:cNvSpPr>
            <a:spLocks xmlns:a="http://schemas.openxmlformats.org/drawingml/2006/main" noGrp="1"/>
          </p:cNvSpPr>
          <p:nvPr/>
        </p:nvSpPr>
        <p:spPr>
          <a:xfrm xmlns:a="http://schemas.openxmlformats.org/drawingml/2006/main">
            <a:off x="609600" y="1095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Calibration representativeness and operational evaluation criteria</a:t>
            </a:r>
          </a:p>
        </p:txBody>
      </p:sp>
      <p:sp>
        <p:nvSpPr>
          <p:cNvPr id="3" name="">
            <a:extLst xmlns:a="http://schemas.openxmlformats.org/drawingml/2006/main">
              <a:ext uri="{FF2B5EF4-FFF2-40B4-BE49-F238E27FC236}">
                <a16:creationId xmlns:a16="http://schemas.microsoft.com/office/drawing/2014/main" id="{FDFDE92F-6319-45CF-82D0-E923C90C15DB}"/>
              </a:ext>
            </a:extLst>
          </p:cNvPr>
          <p:cNvSpPr>
            <a:spLocks xmlns:a="http://schemas.openxmlformats.org/drawingml/2006/main" noGrp="1"/>
          </p:cNvSpPr>
          <p:nvPr/>
        </p:nvSpPr>
        <p:spPr>
          <a:xfrm xmlns:a="http://schemas.openxmlformats.org/drawingml/2006/main">
            <a:off x="11239500" y="6381750"/>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350">
                <a:solidFill>
                  <a:srgbClr val="536574"/>
                </a:solidFill>
                <a:latin typeface="Abyssinica SIL"/>
                <a:ea typeface="Abyssinica SIL"/>
                <a:cs typeface="Abyssinica SIL"/>
              </a:defRPr>
            </a:defPPr>
          </a:lstStyle>
          <a:p xmlns:a="http://schemas.openxmlformats.org/drawingml/2006/main">
            <a:pPr algn="l">
              <a:buNone/>
              <a:defRPr sz="1350" b="0">
                <a:solidFill>
                  <a:srgbClr val="536574"/>
                </a:solidFill>
                <a:latin typeface="Abyssinica SIL"/>
                <a:ea typeface="Abyssinica SIL"/>
                <a:cs typeface="Abyssinica SIL"/>
              </a:defRPr>
            </a:pPr>
            <a:r>
              <a:rPr sz="1350" b="0">
                <a:solidFill>
                  <a:srgbClr val="536574"/>
                </a:solidFill>
                <a:latin typeface="Abyssinica SIL"/>
                <a:ea typeface="Abyssinica SIL"/>
                <a:cs typeface="Abyssinica SIL"/>
              </a:rPr>
              <a:t>12</a:t>
            </a:r>
          </a:p>
        </p:txBody>
      </p:sp>
      <p:sp>
        <p:nvSpPr>
          <p:cNvPr id="4" name="">
            <a:extLst xmlns:a="http://schemas.openxmlformats.org/drawingml/2006/main">
              <a:ext uri="{FF2B5EF4-FFF2-40B4-BE49-F238E27FC236}">
                <a16:creationId xmlns:a16="http://schemas.microsoft.com/office/drawing/2014/main" id="{FC6A25B6-708A-4C13-81F9-EDF8A25B8EF3}"/>
              </a:ext>
            </a:extLst>
          </p:cNvPr>
          <p:cNvSpPr>
            <a:spLocks xmlns:a="http://schemas.openxmlformats.org/drawingml/2006/main" noGrp="1"/>
          </p:cNvSpPr>
          <p:nvPr/>
        </p:nvSpPr>
        <p:spPr>
          <a:xfrm xmlns:a="http://schemas.openxmlformats.org/drawingml/2006/main">
            <a:off x="609600" y="194310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Calibration coverage</a:t>
            </a:r>
          </a:p>
        </p:txBody>
      </p:sp>
      <p:sp>
        <p:nvSpPr>
          <p:cNvPr id="5" name="">
            <a:extLst xmlns:a="http://schemas.openxmlformats.org/drawingml/2006/main">
              <a:ext uri="{FF2B5EF4-FFF2-40B4-BE49-F238E27FC236}">
                <a16:creationId xmlns:a16="http://schemas.microsoft.com/office/drawing/2014/main" id="{BAD48BBD-49C6-4E2C-A70B-37FDF1A27EBC}"/>
              </a:ext>
            </a:extLst>
          </p:cNvPr>
          <p:cNvSpPr>
            <a:spLocks xmlns:a="http://schemas.openxmlformats.org/drawingml/2006/main" noGrp="1"/>
          </p:cNvSpPr>
          <p:nvPr/>
        </p:nvSpPr>
        <p:spPr>
          <a:xfrm xmlns:a="http://schemas.openxmlformats.org/drawingml/2006/main">
            <a:off x="609600" y="247650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a:solidFill>
                  <a:srgbClr val="132B3A"/>
                </a:solidFill>
                <a:latin typeface="Abyssinica SIL"/>
                <a:ea typeface="Abyssinica SIL"/>
                <a:cs typeface="Abyssinica SIL"/>
              </a:defRPr>
            </a:defPPr>
          </a:lstStyle>
          <a:p xmlns:a="http://schemas.openxmlformats.org/drawingml/2006/main">
            <a:pPr algn="l">
              <a:buNone/>
              <a:defRPr sz="2400" b="0">
                <a:solidFill>
                  <a:srgbClr val="132B3A"/>
                </a:solidFill>
                <a:latin typeface="Abyssinica SIL"/>
                <a:ea typeface="Abyssinica SIL"/>
                <a:cs typeface="Abyssinica SIL"/>
              </a:defRPr>
            </a:pPr>
            <a:r>
              <a:rPr sz="2400" b="0">
                <a:solidFill>
                  <a:srgbClr val="132B3A"/>
                </a:solidFill>
                <a:latin typeface="Abyssinica SIL"/>
                <a:ea typeface="Abyssinica SIL"/>
                <a:cs typeface="Abyssinica SIL"/>
              </a:rPr>
              <a:t>Specify the event types and operating periods represented in calibration, then assess transfer to different conditions.</a:t>
            </a:r>
          </a:p>
        </p:txBody>
      </p:sp>
      <p:sp>
        <p:nvSpPr>
          <p:cNvPr id="6" name="">
            <a:extLst xmlns:a="http://schemas.openxmlformats.org/drawingml/2006/main">
              <a:ext uri="{FF2B5EF4-FFF2-40B4-BE49-F238E27FC236}">
                <a16:creationId xmlns:a16="http://schemas.microsoft.com/office/drawing/2014/main" id="{2A2F2D6E-A1FE-4948-BB36-92120ECD8972}"/>
              </a:ext>
            </a:extLst>
          </p:cNvPr>
          <p:cNvSpPr>
            <a:spLocks xmlns:a="http://schemas.openxmlformats.org/drawingml/2006/main" noGrp="1"/>
          </p:cNvSpPr>
          <p:nvPr/>
        </p:nvSpPr>
        <p:spPr>
          <a:xfrm xmlns:a="http://schemas.openxmlformats.org/drawingml/2006/main">
            <a:off x="609600" y="37433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00" b="1">
                <a:solidFill>
                  <a:srgbClr val="087E8B"/>
                </a:solidFill>
                <a:latin typeface="Abyssinica SIL"/>
                <a:ea typeface="Abyssinica SIL"/>
                <a:cs typeface="Abyssinica SIL"/>
              </a:defRPr>
            </a:defPPr>
          </a:lstStyle>
          <a:p xmlns:a="http://schemas.openxmlformats.org/drawingml/2006/main">
            <a:pPr algn="l">
              <a:buNone/>
              <a:defRPr sz="2400" b="1">
                <a:solidFill>
                  <a:srgbClr val="087E8B"/>
                </a:solidFill>
                <a:latin typeface="Abyssinica SIL"/>
                <a:ea typeface="Abyssinica SIL"/>
                <a:cs typeface="Abyssinica SIL"/>
              </a:defRPr>
            </a:pPr>
            <a:r>
              <a:rPr sz="2400" b="1">
                <a:solidFill>
                  <a:srgbClr val="087E8B"/>
                </a:solidFill>
                <a:latin typeface="Abyssinica SIL"/>
                <a:ea typeface="Abyssinica SIL"/>
                <a:cs typeface="Abyssinica SIL"/>
              </a:rPr>
              <a:t>Operational trade-offs</a:t>
            </a:r>
          </a:p>
        </p:txBody>
      </p:sp>
      <p:sp>
        <p:nvSpPr>
          <p:cNvPr id="7" name="">
            <a:extLst xmlns:a="http://schemas.openxmlformats.org/drawingml/2006/main">
              <a:ext uri="{FF2B5EF4-FFF2-40B4-BE49-F238E27FC236}">
                <a16:creationId xmlns:a16="http://schemas.microsoft.com/office/drawing/2014/main" id="{970DA417-5635-4738-B2E9-2D949ACE1AE2}"/>
              </a:ext>
            </a:extLst>
          </p:cNvPr>
          <p:cNvSpPr>
            <a:spLocks xmlns:a="http://schemas.openxmlformats.org/drawingml/2006/main" noGrp="1"/>
          </p:cNvSpPr>
          <p:nvPr/>
        </p:nvSpPr>
        <p:spPr>
          <a:xfrm xmlns:a="http://schemas.openxmlformats.org/drawingml/2006/main">
            <a:off x="609600" y="429577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a:solidFill>
                  <a:srgbClr val="132B3A"/>
                </a:solidFill>
                <a:latin typeface="Abyssinica SIL"/>
                <a:ea typeface="Abyssinica SIL"/>
                <a:cs typeface="Abyssinica SIL"/>
              </a:defRPr>
            </a:defPPr>
          </a:lstStyle>
          <a:p xmlns:a="http://schemas.openxmlformats.org/drawingml/2006/main">
            <a:pPr algn="l">
              <a:buNone/>
              <a:defRPr sz="2325" b="0">
                <a:solidFill>
                  <a:srgbClr val="132B3A"/>
                </a:solidFill>
                <a:latin typeface="Abyssinica SIL"/>
                <a:ea typeface="Abyssinica SIL"/>
                <a:cs typeface="Abyssinica SIL"/>
              </a:defRPr>
            </a:pPr>
            <a:r>
              <a:rPr sz="2325" b="0">
                <a:solidFill>
                  <a:srgbClr val="132B3A"/>
                </a:solidFill>
                <a:latin typeface="Abyssinica SIL"/>
                <a:ea typeface="Abyssinica SIL"/>
                <a:cs typeface="Abyssinica SIL"/>
              </a:rPr>
              <a:t>Define acceptable missed events, false-alarm burden and detection delay. Freeze the comparison before new runs.</a:t>
            </a:r>
          </a:p>
        </p:txBody>
      </p:sp>
      <p:sp>
        <p:nvSpPr>
          <p:cNvPr id="8" name="">
            <a:extLst xmlns:a="http://schemas.openxmlformats.org/drawingml/2006/main">
              <a:ext uri="{FF2B5EF4-FFF2-40B4-BE49-F238E27FC236}">
                <a16:creationId xmlns:a16="http://schemas.microsoft.com/office/drawing/2014/main" id="{8D9731C9-C64D-4F8E-8E6D-185DF11468CB}"/>
              </a:ext>
            </a:extLst>
          </p:cNvPr>
          <p:cNvSpPr>
            <a:spLocks xmlns:a="http://schemas.openxmlformats.org/drawingml/2006/main" noGrp="1"/>
          </p:cNvSpPr>
          <p:nvPr/>
        </p:nvSpPr>
        <p:spPr>
          <a:xfrm xmlns:a="http://schemas.openxmlformats.org/drawingml/2006/main">
            <a:off x="609600" y="58769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a:solidFill>
                  <a:srgbClr val="536574"/>
                </a:solidFill>
                <a:latin typeface="Abyssinica SIL"/>
                <a:ea typeface="Abyssinica SIL"/>
                <a:cs typeface="Abyssinica SIL"/>
              </a:defRPr>
            </a:defPPr>
          </a:lstStyle>
          <a:p xmlns:a="http://schemas.openxmlformats.org/drawingml/2006/main">
            <a:pPr algn="l">
              <a:buNone/>
              <a:defRPr sz="1875" b="0">
                <a:solidFill>
                  <a:srgbClr val="536574"/>
                </a:solidFill>
                <a:latin typeface="Abyssinica SIL"/>
                <a:ea typeface="Abyssinica SIL"/>
                <a:cs typeface="Abyssinica SIL"/>
              </a:defRPr>
            </a:pPr>
            <a:r>
              <a:rPr sz="1875" b="0">
                <a:solidFill>
                  <a:srgbClr val="536574"/>
                </a:solidFill>
                <a:latin typeface="Abyssinica SIL"/>
                <a:ea typeface="Abyssinica SIL"/>
                <a:cs typeface="Abyssinica SIL"/>
              </a:rPr>
              <a:t>Previously inspected periods remain development data. The proposed protocol has not been implemented.</a:t>
            </a:r>
          </a:p>
        </p:txBody>
      </p:sp>
    </p:spTree>
    <p:extLst>
      <p:ext uri="{BB962C8B-B14F-4D97-AF65-F5344CB8AC3E}">
        <p14:creationId xmlns:p14="http://schemas.microsoft.com/office/powerpoint/2010/main" val="505639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2026-10-13T12:00:30.7330000Z</dcterms:created>
  <dcterms:modified xsi:type="dcterms:W3CDTF">2026-10-13T12:00:30.7330000Z</dcterms:modified>
</coreProperties>
</file>