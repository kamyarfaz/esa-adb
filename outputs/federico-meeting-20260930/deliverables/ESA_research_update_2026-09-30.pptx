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7ca1035e754945" /><Relationship Type="http://schemas.openxmlformats.org/officeDocument/2006/relationships/extended-properties" Target="/docProps/app.xml" Id="R5a1cba30e67a4071" /><Relationship Type="http://schemas.openxmlformats.org/officeDocument/2006/relationships/officeDocument" Target="/ppt/presentation.xml" Id="R07cff2a5d5594f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7315cb1a344ce1"/>
  </p:sldMasterIdLst>
  <p:notesMasterIdLst>
    <p:notesMasterId xmlns:r="http://schemas.openxmlformats.org/officeDocument/2006/relationships" r:id="R54de697202a94867"/>
  </p:notesMasterIdLst>
  <p:sldIdLst>
    <p:sldId xmlns:r="http://schemas.openxmlformats.org/officeDocument/2006/relationships" id="256" r:id="Rcefef18a0b0f4829"/>
    <p:sldId xmlns:r="http://schemas.openxmlformats.org/officeDocument/2006/relationships" id="257" r:id="R09db6b2ade3845f5"/>
    <p:sldId xmlns:r="http://schemas.openxmlformats.org/officeDocument/2006/relationships" id="258" r:id="Rc5789d1cea824cb1"/>
    <p:sldId xmlns:r="http://schemas.openxmlformats.org/officeDocument/2006/relationships" id="259" r:id="Re9bc9191b2b24094"/>
    <p:sldId xmlns:r="http://schemas.openxmlformats.org/officeDocument/2006/relationships" id="260" r:id="R5721f2341eeb4fd7"/>
    <p:sldId xmlns:r="http://schemas.openxmlformats.org/officeDocument/2006/relationships" id="261" r:id="Rfec622e265df4239"/>
    <p:sldId xmlns:r="http://schemas.openxmlformats.org/officeDocument/2006/relationships" id="262" r:id="Rab104a1a7b844aa4"/>
    <p:sldId xmlns:r="http://schemas.openxmlformats.org/officeDocument/2006/relationships" id="263" r:id="R94d6577c3ae54546"/>
    <p:sldId xmlns:r="http://schemas.openxmlformats.org/officeDocument/2006/relationships" id="264" r:id="Rf8fa9a35925841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1bf9ae65024641" /><Relationship Type="http://schemas.openxmlformats.org/officeDocument/2006/relationships/slideMaster" Target="/ppt/slideMasters/slideMaster1.xml" Id="Rc87315cb1a344ce1" /><Relationship Type="http://schemas.openxmlformats.org/officeDocument/2006/relationships/notesMaster" Target="/ppt/notesMasters/notesMaster1.xml" Id="R54de697202a94867" /><Relationship Type="http://schemas.openxmlformats.org/officeDocument/2006/relationships/presProps" Target="/ppt/presProps.xml" Id="R709443bc3b6e4f3b" /><Relationship Type="http://schemas.openxmlformats.org/officeDocument/2006/relationships/tableStyles" Target="/ppt/tableStyles.xml" Id="Re5dcdc44ad454587" /><Relationship Type="http://schemas.openxmlformats.org/officeDocument/2006/relationships/slide" Target="/ppt/slides/slide1.xml" Id="Rcefef18a0b0f4829" /><Relationship Type="http://schemas.openxmlformats.org/officeDocument/2006/relationships/slide" Target="/ppt/slides/slide2.xml" Id="R09db6b2ade3845f5" /><Relationship Type="http://schemas.openxmlformats.org/officeDocument/2006/relationships/slide" Target="/ppt/slides/slide3.xml" Id="Rc5789d1cea824cb1" /><Relationship Type="http://schemas.openxmlformats.org/officeDocument/2006/relationships/slide" Target="/ppt/slides/slide4.xml" Id="Re9bc9191b2b24094" /><Relationship Type="http://schemas.openxmlformats.org/officeDocument/2006/relationships/slide" Target="/ppt/slides/slide5.xml" Id="R5721f2341eeb4fd7" /><Relationship Type="http://schemas.openxmlformats.org/officeDocument/2006/relationships/slide" Target="/ppt/slides/slide6.xml" Id="Rfec622e265df4239" /><Relationship Type="http://schemas.openxmlformats.org/officeDocument/2006/relationships/slide" Target="/ppt/slides/slide7.xml" Id="Rab104a1a7b844aa4" /><Relationship Type="http://schemas.openxmlformats.org/officeDocument/2006/relationships/slide" Target="/ppt/slides/slide8.xml" Id="R94d6577c3ae54546" /><Relationship Type="http://schemas.openxmlformats.org/officeDocument/2006/relationships/slide" Target="/ppt/slides/slide9.xml" Id="Rf8fa9a35925841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6f90bc6caa45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b95047f0ed47e0" /><Relationship Type="http://schemas.openxmlformats.org/officeDocument/2006/relationships/notesMaster" Target="/ppt/notesMasters/notesMaster1.xml" Id="R4c4fb059f6794f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17b96888048cb" /><Relationship Type="http://schemas.openxmlformats.org/officeDocument/2006/relationships/notesMaster" Target="/ppt/notesMasters/notesMaster1.xml" Id="Rad63db795c1a45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4c303db0e04ff6" /><Relationship Type="http://schemas.openxmlformats.org/officeDocument/2006/relationships/notesMaster" Target="/ppt/notesMasters/notesMaster1.xml" Id="R6611873f9f8a44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5d0a65f5d344bb" /><Relationship Type="http://schemas.openxmlformats.org/officeDocument/2006/relationships/notesMaster" Target="/ppt/notesMasters/notesMaster1.xml" Id="R0b9fcdbf027c47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0be8bc5d64547" /><Relationship Type="http://schemas.openxmlformats.org/officeDocument/2006/relationships/notesMaster" Target="/ppt/notesMasters/notesMaster1.xml" Id="Rceb01f711e0340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9c8d7f11734a67" /><Relationship Type="http://schemas.openxmlformats.org/officeDocument/2006/relationships/notesMaster" Target="/ppt/notesMasters/notesMaster1.xml" Id="Re112c8ef7b154f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b8877fc24a4992" /><Relationship Type="http://schemas.openxmlformats.org/officeDocument/2006/relationships/notesMaster" Target="/ppt/notesMasters/notesMaster1.xml" Id="R427840af11414f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e93d8c5a144975" /><Relationship Type="http://schemas.openxmlformats.org/officeDocument/2006/relationships/notesMaster" Target="/ppt/notesMasters/notesMaster1.xml" Id="Re62d1bf3349f47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62f86a46d64391" /><Relationship Type="http://schemas.openxmlformats.org/officeDocument/2006/relationships/notesMaster" Target="/ppt/notesMasters/notesMaster1.xml" Id="R48f98f60fd6844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distinction: eight input channels versus system-wide event annotations. Training uses nominal windows. Calibration selects checkpoint, threshold and postprocessing. Assessment uses one frozen rule. Sources: AI_HANDOFF.md; results_longrun/long_baseline/ch40_47_train2000_2005_seed42.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already uses Transformers. MSE is the mean of squared differences between actual and reconstructed values. Our detector aggregates reconstruction errors into scores and applies a calibration-selected threshold. A model can reconstruct an anomaly well and miss it. Unfamiliar normal behaviour can generate false alarms. Values below are illustrative, not measured telemetry.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AI_HANDOFF.md and results_longrun/long_baseline/ch40_47_train2000_2005_seed42. System: 54 detected, 37 missed, 7 false events from 91 event IDs. Local: 53 detected, 14 missed, 7 false events from 67 event IDs. Metric esa-ew-id-duration-v1. Corrected precision = TP/(TP+FP) × (1 − nominal false-positive duration/nominal duration). Recall = TP/(TP+FN). F0.5 = 1.25PR/(0.25P+R). These benchmark periods have previously been inspected and are not an untouched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development assessments use April–December 2003, 2004 and 2005, with January–March calibration and preceding years for training. Expanded channels added 14,21,29. Expanded system F0.5: .909069/.251365/.148245. Reconstruction-only: .525691/.150184/.868934. Baseline: .833170/.428131/.869055. Source: AI_HANDOFF.md and saved development results. These are separate from the short five-epoch pilots.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Specialist inputs14,21,29. Combined OR rule: baseline or specialist alarm. Calibration-only gating, disabled on ties. In 2003 the combination kept TP5, increased FP1 to6, and decreased F0.5 from .833170 to .499681. Specialist standalone F0.5 .166589/.769221/.740641. Source: AI_HANDOFF.md; docs/research/specialist-detector.md.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Masking hides input portions and reconstructs them from context. Matched five-epoch pilot system F0.5 control/masked: 2003 .714286/.908853, 2004 .594608/.090409, 2005 .869116/.869085. Modified augmentation uses a 50/50 mixture of legacy and short coordinated corruptions. Short length1–10 samples (30s–5min),1–8 channels. Across seeds42/43/44, system mean legacy/short: 2003 .642418/.836292, 2004 .415934/.241707, 2005 .848011/.931322. Source: docs/research/short-coordinated-multiseed-2026-09-29.md and AI_HANDOFF.md.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sequences. A roll preserves the values but changes their positions. A constant segment remains exactly unchanged. Diagnostics found short-roll reconstruction errors close to paired normal errors while the objective still applied a separation penalty. This motivates a hypothesis, not proof of the cause. New short_no_roll removes rolls only in the short branch, retaining short offsets/noise and the unchanged legacy branch. Source: docs/research/augmentation-2004-diagnosis-2026-09-29.md; docs/research/short-no-roll-comparison.md.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results_longrun/development/short_no_roll_seed42_v1/results.csv. Verified six prediction arrays, twelve metric rows, earliest-best checkpoint selection and exact control reproduction. Matched five epochs, 25000 nominal windows, batch64, seed42. Each fold trains on preceding years and calibrates Jan–Mar. Local candidate F0.5: .832763/.571214/.925416. Candidate system TP/FP/FN: 2003 5/1/1; 2004 4/3/6; 2005 6/0/1. Control: 2/0/4;5/9/5;7/0/0. No full-period promotion.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additional seeds43/44 were planned before the latest assessment. Do not choose the best seed or tune using the same assessment. Keep all runs and report the full campaign. No claim of robust ≥.85 system F0.5. Baseline full-period assessment is historical and already inspected. Sources: AI_HANDOFF.md and docs/research/short-no-roll-comparison.md.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b8b5bbcc941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cb2f83a2c84cde" /><Relationship Type="http://schemas.openxmlformats.org/officeDocument/2006/relationships/slideLayout" Target="/ppt/slideLayouts/slideLayout1.xml" Id="R0cd16b693d8b4f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d16b693d8b4f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e97d4841c4e7f" /><Relationship Type="http://schemas.openxmlformats.org/officeDocument/2006/relationships/notesSlide" Target="/ppt/notesSlides/notesSlide1.xml" Id="Rc4a99498b25c4e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4953cbb44470e" /><Relationship Type="http://schemas.openxmlformats.org/officeDocument/2006/relationships/notesSlide" Target="/ppt/notesSlides/notesSlide2.xml" Id="Rb27c3afcfa694e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32d82dd0749b8" /><Relationship Type="http://schemas.openxmlformats.org/officeDocument/2006/relationships/notesSlide" Target="/ppt/notesSlides/notesSlide3.xml" Id="R4838b06be03746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b72f286fe4a13" /><Relationship Type="http://schemas.openxmlformats.org/officeDocument/2006/relationships/notesSlide" Target="/ppt/notesSlides/notesSlide4.xml" Id="R9132bb501d314c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3eb204fcd41fa" /><Relationship Type="http://schemas.openxmlformats.org/officeDocument/2006/relationships/notesSlide" Target="/ppt/notesSlides/notesSlide5.xml" Id="R31dd1600f97243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59b612d8e4145" /><Relationship Type="http://schemas.openxmlformats.org/officeDocument/2006/relationships/notesSlide" Target="/ppt/notesSlides/notesSlide6.xml" Id="R95b157bd88ab42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abc8fda2e43b8" /><Relationship Type="http://schemas.openxmlformats.org/officeDocument/2006/relationships/notesSlide" Target="/ppt/notesSlides/notesSlide7.xml" Id="Re5a6b9e1c9bc40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3e1bd35b1455c" /><Relationship Type="http://schemas.openxmlformats.org/officeDocument/2006/relationships/notesSlide" Target="/ppt/notesSlides/notesSlide8.xml" Id="Ra23d5efde8b043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41788a063441d" /><Relationship Type="http://schemas.openxmlformats.org/officeDocument/2006/relationships/notesSlide" Target="/ppt/notesSlides/notesSlide9.xml" Id="R49204b0b373b42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B9491-C950-44A1-85CB-08C5F8BF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Satellite anomaly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5EA38-4939-49A6-825B-1F632565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Research update for Federico  /  30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A1403-E16C-4C04-9F45-1AA9C6E7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6FFFB-FA93-489A-9BB4-2394A7B0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850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Eight input channels: 40–47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762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476500"/>
                <a:gridCol w="621030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Period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2000–2005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Learn normal behaviour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Calibration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2006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Choose model and alarm settings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2007–2013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Evaluate all months with frozen settings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5A4BD-9E6A-4E6E-9D18-CFB96D03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2100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System evaluation checks these alarms against events across all 76 telemetry channels.</a:t>
            </a:r>
          </a:p>
        </p:txBody>
      </p:sp>
    </p:spTree>
    <p:extLst>
      <p:ext uri="{BB962C8B-B14F-4D97-AF65-F5344CB8AC3E}">
        <p14:creationId xmlns:p14="http://schemas.microsoft.com/office/powerpoint/2010/main" val="1737197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88FE9-2A37-4EBD-9A5F-0281E1C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Reconstruction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3C9E9-A907-464F-952B-2A7D70C5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The Transformer autoencoder learns to reproduce normal telemetry.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47F4C-76A4-4C56-8A5B-B36759AA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810000"/>
                <a:gridCol w="4019550"/>
              </a:tblGrid>
              <a:tr h="55959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Actual value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Reconstruction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Difference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10.1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Small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10.8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Small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Large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CE745-8B72-4ABD-9D3D-2D2A35B7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47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MSE = average of (actual − reconstructed)²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43C2C-A71C-4DA3-A861-67B66F80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21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Large error can trigger an alarm. Low training error alone does not guarantee good detection.</a:t>
            </a:r>
          </a:p>
        </p:txBody>
      </p:sp>
    </p:spTree>
    <p:extLst>
      <p:ext uri="{BB962C8B-B14F-4D97-AF65-F5344CB8AC3E}">
        <p14:creationId xmlns:p14="http://schemas.microsoft.com/office/powerpoint/2010/main" val="589956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3A04D-8F01-4A80-BD01-CED6245D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Full-period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2C519-829C-457B-B43E-51D90453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Same model and predictions, using only channels 40–47 as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41DFD-AB9B-4C5D-A794-7CCFA334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1952625"/>
                <a:gridCol w="1952625"/>
                <a:gridCol w="1971675"/>
              </a:tblGrid>
              <a:tr h="730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Event scope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Event IDs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Detected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F₀.₅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Channels 40–47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0.8629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All 76 telemetry channels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91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54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0.8057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131F5-08A0-46E6-B072-51E7811C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400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All months of 2007–2013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91C29-2D64-4B7A-8D1A-A0BBD4CF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950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Corrected event-based F₀.₅ emphasizes precision and penalizes false alarms during normal operation.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FEB1B-1300-42F6-9777-81B51D59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The ≥0.85 target is not yet robustly achieved across the system.</a:t>
            </a:r>
          </a:p>
        </p:txBody>
      </p:sp>
    </p:spTree>
    <p:extLst>
      <p:ext uri="{BB962C8B-B14F-4D97-AF65-F5344CB8AC3E}">
        <p14:creationId xmlns:p14="http://schemas.microsoft.com/office/powerpoint/2010/main" val="1310214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C1312-4519-418F-B3D9-BFB054B1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Methods: input channels and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9B43B-521C-4FCB-8C46-8800225A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43B99-1FAD-4FAA-B37C-E82F960D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Broader channel 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0AA31-38EF-462D-B520-E931F55F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we changed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41B58-928C-4EBE-A122-8969037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4785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Added channels 14, 21 and 29 to channels 40–47.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D1D9F-3548-415D-B6AD-188363C4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C49AA-00B0-47E7-A3C9-AEC6AE23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Capture information and events the original inputs might miss.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6312A-2D89-48FE-83E5-1F59D760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happened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F4711-A68E-4C88-AF6F-6B721A40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Improved one period, but worsened others. More inputs did not consistently help.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01ED5-785C-4FDE-AE05-236E3A26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Reconstruction-only training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CCBFA-A5FE-4656-A30B-234485D1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we changed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35446-B3A0-413F-90BF-BCBA4193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Removed artificial-anomaly training. Kept normal reconstruction.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C99DC-B5C8-4572-9F47-05735841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DDC5B-4451-4F98-9C33-1B813A84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1015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Check whether ordinary reconstruction learning is sufficient.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E6FD6-D4D9-45E5-8C5F-854784A1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happened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407E6-7EDC-441B-A145-FD330EA9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3880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Very low reconstruction loss did not produce consistently better detection.</a:t>
            </a:r>
          </a:p>
        </p:txBody>
      </p:sp>
    </p:spTree>
    <p:extLst>
      <p:ext uri="{BB962C8B-B14F-4D97-AF65-F5344CB8AC3E}">
        <p14:creationId xmlns:p14="http://schemas.microsoft.com/office/powerpoint/2010/main" val="1293071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DFC2D-7C39-4137-ADCD-8E06B94D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Methods: specialist and combined alarms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2CAFE-F553-4BF0-B51C-27F0E8F6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64E1B-0692-4C2A-9AF5-FC4091BC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Separate specialist detector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6FAA6-36FD-4D03-B718-018BB6F4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we changed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98803-BD83-4C1C-BD08-5CA7412B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4785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Trained a separate model on channels 14, 21 and 29.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36D0C-CFF7-4E58-B4CB-01A1D467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9321B-DDD0-4A0C-8D99-2693901F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Learn that channel group and complement the original detector.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E909C-87DC-43CD-9251-6CEFCEEB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happened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3162E-E89E-43D1-B7F9-5D5EC1AC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Strong in some periods and weak in others.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85D9D-41E9-4676-9CDD-CEE62B50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Combined alarms: OR ensemble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4DD35-FC31-41EE-AB93-5F7BA231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we changed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23401-45A2-439B-AF81-5DB524D5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Either detector can raise an alarm when calibration enables the specialist.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91226-2077-4A44-BDA1-5734D7AF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9DB13-AE04-47B6-8EE1-5C9958EA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1015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Catch events missed by either detector individually.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C9BFB-04FE-456C-B103-2D933E9C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happened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5636B-61D9-4F64-998D-4FBB65EF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3880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In 2003, detections stayed at 5 but false alarm events rose from 1 to 6.</a:t>
            </a:r>
          </a:p>
        </p:txBody>
      </p:sp>
    </p:spTree>
    <p:extLst>
      <p:ext uri="{BB962C8B-B14F-4D97-AF65-F5344CB8AC3E}">
        <p14:creationId xmlns:p14="http://schemas.microsoft.com/office/powerpoint/2010/main" val="1603908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3D6BE-C7B1-4EB5-82FE-844C3EB6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Methods: masking and artificial anomalies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845A9-A5CE-4971-B942-1996BB47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759CA-15A2-42EF-AB04-17854BD6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Masking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66E63-ADC9-428A-B34D-C6A490FD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we changed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AF2C7-AFE5-4A83-8A23-BD058BA7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4785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Hid parts of the input and reconstructed them from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76B1B-0D9A-4BD0-86DC-D9DD4B16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C1AA9-FF6F-410B-8061-2CBA7547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Learn relationships instead of simply copying visible 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6F7F1-0BFD-4B5E-83F1-4370BC5A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happened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54182-8C56-4F53-BECA-6785FCDE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Helped one period, but generated many false alarms in 2004.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20253-6BAA-4907-822F-C3B921DA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Modified artificial anomalies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F045B-A1AA-493D-AE82-C7059CF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we changed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002C4-16D0-4A53-A559-6787120E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Added short corruptions affecting several channels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1FD1F-E125-415C-811C-47A1E33B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8F325-3113-469E-A504-E79846BD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10150"/>
            <a:ext cx="847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Represent short events lasting 30 seconds to five minutes.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A4463-8ED5-4DBC-B34F-DEAC080E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What happened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14B0B-AF00-4451-87B0-D299EA25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3880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Some gains, but repeated runs exposed instability, especially in 2004.</a:t>
            </a:r>
          </a:p>
        </p:txBody>
      </p:sp>
    </p:spTree>
    <p:extLst>
      <p:ext uri="{BB962C8B-B14F-4D97-AF65-F5344CB8AC3E}">
        <p14:creationId xmlns:p14="http://schemas.microsoft.com/office/powerpoint/2010/main" val="1232377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443DD-EFD3-49B8-A3D2-958B487F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Short temporal shifts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B042B-4C71-42BE-B875-FDDC0155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A temporal roll moves values within a short segment and wraps them around.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AB046-80E8-46EC-99B7-5E31E220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14775"/>
                <a:gridCol w="3914775"/>
              </a:tblGrid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Original segment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After a roll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Changing signal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10, 11, 12, 13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13, 10, 11, 12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Constant signal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10, 10, 10, 10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10, 10, 10, 10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DC089-DEA2-4247-BA10-59C08BE3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325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Why investigate this?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ABAC6-5424-4870-AA7E-DB961741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21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A weak change can look normal, while training asks the model to treat it as abnormal.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DF427-114E-4659-A1ED-AAE218A5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202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Latest change: remove rolls only from the short branch. Keep offsets and noise.</a:t>
            </a:r>
          </a:p>
        </p:txBody>
      </p:sp>
    </p:spTree>
    <p:extLst>
      <p:ext uri="{BB962C8B-B14F-4D97-AF65-F5344CB8AC3E}">
        <p14:creationId xmlns:p14="http://schemas.microsoft.com/office/powerpoint/2010/main" val="6977823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06E22-F857-410B-BDDE-605306AD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Latest pilot: removing short rolls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5B074-C823-4299-ADEA-5CB35A9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System F₀.₅, April–December assessment in each year, seed 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8A327-43BF-4DF6-9D81-EBE5FAEC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581400"/>
                <a:gridCol w="3581400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Assessment year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With short rolls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Without short rolls</a:t>
                      </a:r>
                    </a:p>
                  </a:txBody>
                  <a:tcPr marL="91440" marR="91440" marT="45720" marB="45720">
                    <a:solidFill>
                      <a:srgbClr val="132B3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2003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0.7143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0.8328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2004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0.3778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0.5261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0.9994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0.9672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2928F-A768-40A9-B3A8-8B56B72B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217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2004: false alarm events fell from 9 to 3, but detections fell from 5 to 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15A90-D182-4699-8DE6-80CEE70B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One seed only. 2004 calibration F₀.₅ stayed at zero. These are development results.</a:t>
            </a:r>
          </a:p>
        </p:txBody>
      </p:sp>
    </p:spTree>
    <p:extLst>
      <p:ext uri="{BB962C8B-B14F-4D97-AF65-F5344CB8AC3E}">
        <p14:creationId xmlns:p14="http://schemas.microsoft.com/office/powerpoint/2010/main" val="1760628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A7403-B7BD-47C5-B941-5A5CA39D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3300" b="1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Conclusions and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950B2-79DF-45FD-90A5-F706A995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A reproducible baseline and a promising change that still needs repeated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DE92F-6319-45CF-82D0-E923C90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350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A25B6-708A-4C13-81F9-EDF8A25B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400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Current 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48BBD-49C6-4E2C-A70B-37FDF1A2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2400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F₀.₅ = 0.8629 for input-channel events and 0.8057 for system events, over 2007–2013.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F2D6E-A1FE-4948-BB36-92120ECD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defRPr>
            </a:pPr>
            <a:r>
              <a:rPr sz="2400" b="1">
                <a:solidFill>
                  <a:srgbClr val="087E8B"/>
                </a:solidFill>
                <a:latin typeface="Abyssinica SIL"/>
                <a:ea typeface="Abyssinica SIL"/>
                <a:cs typeface="Abyssinica SIL"/>
              </a:rPr>
              <a:t>Next experiment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DA417-5635-4738-B2E9-2D949ACE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defRPr>
            </a:pPr>
            <a:r>
              <a:rPr sz="2325" b="0">
                <a:solidFill>
                  <a:srgbClr val="132B3A"/>
                </a:solidFill>
                <a:latin typeface="Abyssinica SIL"/>
                <a:ea typeface="Abyssinica SIL"/>
                <a:cs typeface="Abyssinica SIL"/>
              </a:rPr>
              <a:t>Repeat the unchanged short-roll comparison with seeds 43 and 44. Compare false alarms, recall and consistency before a larger run.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731C9-C64D-4F8E-8E6D-185DF114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defRPr>
            </a:pPr>
            <a:r>
              <a:rPr sz="1875" b="0">
                <a:solidFill>
                  <a:srgbClr val="536574"/>
                </a:solidFill>
                <a:latin typeface="Abyssinica SIL"/>
                <a:ea typeface="Abyssinica SIL"/>
                <a:cs typeface="Abyssinica SIL"/>
              </a:rPr>
              <a:t>Keep the current baseline until the evidence supports a replacement.</a:t>
            </a:r>
          </a:p>
        </p:txBody>
      </p:sp>
    </p:spTree>
    <p:extLst>
      <p:ext uri="{BB962C8B-B14F-4D97-AF65-F5344CB8AC3E}">
        <p14:creationId xmlns:p14="http://schemas.microsoft.com/office/powerpoint/2010/main" val="50563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2026-09-30T07:51:43.2580000Z</dcterms:created>
  <dcterms:modified xsi:type="dcterms:W3CDTF">2026-09-30T07:51:43.2580000Z</dcterms:modified>
</coreProperties>
</file>